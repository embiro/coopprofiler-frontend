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63" r:id="rId3"/>
    <p:sldId id="259" r:id="rId4"/>
    <p:sldId id="292" r:id="rId5"/>
    <p:sldId id="260" r:id="rId6"/>
    <p:sldId id="269" r:id="rId7"/>
    <p:sldId id="264" r:id="rId8"/>
    <p:sldId id="279" r:id="rId9"/>
    <p:sldId id="278" r:id="rId10"/>
    <p:sldId id="307" r:id="rId11"/>
    <p:sldId id="261" r:id="rId12"/>
    <p:sldId id="289" r:id="rId13"/>
    <p:sldId id="294" r:id="rId14"/>
    <p:sldId id="270" r:id="rId15"/>
    <p:sldId id="268" r:id="rId16"/>
    <p:sldId id="266" r:id="rId17"/>
    <p:sldId id="291" r:id="rId18"/>
    <p:sldId id="271" r:id="rId19"/>
    <p:sldId id="272" r:id="rId20"/>
    <p:sldId id="290" r:id="rId21"/>
    <p:sldId id="273" r:id="rId22"/>
    <p:sldId id="306" r:id="rId23"/>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E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showGuides="1">
      <p:cViewPr varScale="1">
        <p:scale>
          <a:sx n="113" d="100"/>
          <a:sy n="113" d="100"/>
        </p:scale>
        <p:origin x="560" y="1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C8A0DF-5301-0C4B-8452-ABFB0B43DE9A}" type="datetimeFigureOut">
              <a:rPr lang="en-UG" smtClean="0"/>
              <a:t>07/04/2025</a:t>
            </a:fld>
            <a:endParaRPr lang="en-U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E67F9E-322E-9342-816C-2C1CF08C8493}" type="slidenum">
              <a:rPr lang="en-UG" smtClean="0"/>
              <a:t>‹#›</a:t>
            </a:fld>
            <a:endParaRPr lang="en-UG"/>
          </a:p>
        </p:txBody>
      </p:sp>
    </p:spTree>
    <p:extLst>
      <p:ext uri="{BB962C8B-B14F-4D97-AF65-F5344CB8AC3E}">
        <p14:creationId xmlns:p14="http://schemas.microsoft.com/office/powerpoint/2010/main" val="3015681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5" name="Google Shape;695;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0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0" name="Google Shape;680;p10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a:extLst>
            <a:ext uri="{FF2B5EF4-FFF2-40B4-BE49-F238E27FC236}">
              <a16:creationId xmlns:a16="http://schemas.microsoft.com/office/drawing/2014/main" id="{3E4E0F8C-0494-AF67-147E-A63E73A64532}"/>
            </a:ext>
          </a:extLst>
        </p:cNvPr>
        <p:cNvGrpSpPr/>
        <p:nvPr/>
      </p:nvGrpSpPr>
      <p:grpSpPr>
        <a:xfrm>
          <a:off x="0" y="0"/>
          <a:ext cx="0" cy="0"/>
          <a:chOff x="0" y="0"/>
          <a:chExt cx="0" cy="0"/>
        </a:xfrm>
      </p:grpSpPr>
      <p:sp>
        <p:nvSpPr>
          <p:cNvPr id="679" name="Google Shape;679;p107:notes">
            <a:extLst>
              <a:ext uri="{FF2B5EF4-FFF2-40B4-BE49-F238E27FC236}">
                <a16:creationId xmlns:a16="http://schemas.microsoft.com/office/drawing/2014/main" id="{3D0CCCF7-20E4-EF1D-A87C-763AA707FDD2}"/>
              </a:ext>
            </a:extLst>
          </p:cNvPr>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0" name="Google Shape;680;p107:notes">
            <a:extLst>
              <a:ext uri="{FF2B5EF4-FFF2-40B4-BE49-F238E27FC236}">
                <a16:creationId xmlns:a16="http://schemas.microsoft.com/office/drawing/2014/main" id="{3813DBB2-1D7A-C013-3CC6-77FE9EDE7556}"/>
              </a:ext>
            </a:extLst>
          </p:cNvPr>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008150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d508ef84b8_0_3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0" name="Google Shape;800;g2d508ef84b8_0_3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10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0" name="Google Shape;860;p10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solidFill>
                <a:schemeClr val="dk1"/>
              </a:solidFill>
              <a:latin typeface="Courier New"/>
              <a:ea typeface="Courier New"/>
              <a:cs typeface="Courier New"/>
              <a:sym typeface="Courier New"/>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30cf90ab15f_0_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4" name="Google Shape;954;g30cf90ab15f_0_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271D8-0D89-4BC3-A506-80034CBF85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64739B9A-8B88-47D6-992E-8B467DA962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36C894CB-09C1-4D83-983A-2188CD7512ED}"/>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5" name="Footer Placeholder 4">
            <a:extLst>
              <a:ext uri="{FF2B5EF4-FFF2-40B4-BE49-F238E27FC236}">
                <a16:creationId xmlns:a16="http://schemas.microsoft.com/office/drawing/2014/main" id="{719648C8-2407-4C95-9741-DC83D9EC3815}"/>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AEAA5B1E-C95A-48A7-B3B1-B8620D352B01}"/>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2058690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9B68D-A848-4E16-9DDF-4AB02981B0D3}"/>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7C96B715-8E34-43E8-923C-E685556F2A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8B27871B-AC13-4743-9C2A-69185B2AC016}"/>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5" name="Footer Placeholder 4">
            <a:extLst>
              <a:ext uri="{FF2B5EF4-FFF2-40B4-BE49-F238E27FC236}">
                <a16:creationId xmlns:a16="http://schemas.microsoft.com/office/drawing/2014/main" id="{E16B7832-B07E-45F0-AD4D-441AD989580E}"/>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ED9D1C91-62EB-45AF-9452-D735ADFC852D}"/>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502358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E8D5A-9E61-4E2D-8EB4-A6BC6580B9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8F71CBD3-EF46-4FDC-A7C0-798B26BB69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D687C7-63BF-4901-9ABF-86D7655B48B4}"/>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5" name="Footer Placeholder 4">
            <a:extLst>
              <a:ext uri="{FF2B5EF4-FFF2-40B4-BE49-F238E27FC236}">
                <a16:creationId xmlns:a16="http://schemas.microsoft.com/office/drawing/2014/main" id="{6DCC7417-D0C2-420F-B4F7-47AE69F5729B}"/>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825B7A4B-1F7F-4BCC-9018-C72D3FA15328}"/>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2416645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CB087-C193-4E50-BECB-13D776749268}"/>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C43E069C-B9BE-4658-9703-A4891655F8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22D540D8-748C-4C25-AD96-0A2AF0C3E9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13B38F0E-A52D-4AB0-881E-02E9415584B9}"/>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6" name="Footer Placeholder 5">
            <a:extLst>
              <a:ext uri="{FF2B5EF4-FFF2-40B4-BE49-F238E27FC236}">
                <a16:creationId xmlns:a16="http://schemas.microsoft.com/office/drawing/2014/main" id="{C877617C-B73B-4B95-AECB-54935F3FA601}"/>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45A3280C-483D-43E8-B582-C641F423952F}"/>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668768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D8F4-527F-4B2A-A0D3-7E0CB34044CE}"/>
              </a:ext>
            </a:extLst>
          </p:cNvPr>
          <p:cNvSpPr>
            <a:spLocks noGrp="1"/>
          </p:cNvSpPr>
          <p:nvPr>
            <p:ph type="title"/>
          </p:nvPr>
        </p:nvSpPr>
        <p:spPr>
          <a:xfrm>
            <a:off x="839788" y="365125"/>
            <a:ext cx="10515600" cy="1325563"/>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4E09BB2F-D600-44B2-96FA-C145E31D6C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906FF7-C8D0-41AB-8FF4-3B114E9B94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DA6112D3-ADFB-4BF0-AE15-14CBDCBA0A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87F9C3-55AE-41D0-AA95-CCC10168C5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39C0EE88-3524-44A9-B510-DB3030170EA9}"/>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8" name="Footer Placeholder 7">
            <a:extLst>
              <a:ext uri="{FF2B5EF4-FFF2-40B4-BE49-F238E27FC236}">
                <a16:creationId xmlns:a16="http://schemas.microsoft.com/office/drawing/2014/main" id="{8119558B-D26F-476D-AB8A-235CA8D9B542}"/>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D28B690E-A390-4578-AD63-F3F5528C352E}"/>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4041518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8B9D-7CB7-4775-9AB0-23278C5826C0}"/>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113A487B-3CDF-4D62-AFE5-A42EF6234EFF}"/>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4" name="Footer Placeholder 3">
            <a:extLst>
              <a:ext uri="{FF2B5EF4-FFF2-40B4-BE49-F238E27FC236}">
                <a16:creationId xmlns:a16="http://schemas.microsoft.com/office/drawing/2014/main" id="{C4BE0A98-1777-4F45-9BE6-A34DD9E068E8}"/>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A1E3256C-D3E9-41CF-8000-8FE65A8C2296}"/>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2620612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1ADA9F-6CC6-46C0-B176-3AFA2901BC5A}"/>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3" name="Footer Placeholder 2">
            <a:extLst>
              <a:ext uri="{FF2B5EF4-FFF2-40B4-BE49-F238E27FC236}">
                <a16:creationId xmlns:a16="http://schemas.microsoft.com/office/drawing/2014/main" id="{D48812BA-1A40-4264-A78D-A233509D014B}"/>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3749B089-3F1F-42C4-82FE-D6C287650DEE}"/>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2105704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EB911-B1FD-4F27-81DE-D737E5583F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215639F5-1251-443A-970D-E71F82B0E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104A1E69-977E-439C-A9CC-5C18DA506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04754A-3F0A-4C2D-A6BD-6D149FDE87EA}"/>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6" name="Footer Placeholder 5">
            <a:extLst>
              <a:ext uri="{FF2B5EF4-FFF2-40B4-BE49-F238E27FC236}">
                <a16:creationId xmlns:a16="http://schemas.microsoft.com/office/drawing/2014/main" id="{00983F39-7C7B-4DC8-982B-345BC75FB18B}"/>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BDB36E88-046A-4A03-BF9E-1E70B251077D}"/>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2911831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8BECE-2584-4A98-B50D-623C7B8778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465FD0CD-C397-4133-9E43-6836E5F90F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96AC71F2-F9D0-48AB-BDAC-1EBC187773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C2A22B-85BF-4FF8-B019-59286DF87BF2}"/>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6" name="Footer Placeholder 5">
            <a:extLst>
              <a:ext uri="{FF2B5EF4-FFF2-40B4-BE49-F238E27FC236}">
                <a16:creationId xmlns:a16="http://schemas.microsoft.com/office/drawing/2014/main" id="{83F772AF-F48A-44D5-9D9A-5CB88AFD39A2}"/>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9A355155-450C-42A7-889F-523BA253984E}"/>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2538114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07657-7131-466B-846D-EBD7A0C646A7}"/>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F927D0F7-40D8-4A7E-B63B-462870BAA5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3DB36F30-1205-4CA6-A64C-60923DF83C96}"/>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5" name="Footer Placeholder 4">
            <a:extLst>
              <a:ext uri="{FF2B5EF4-FFF2-40B4-BE49-F238E27FC236}">
                <a16:creationId xmlns:a16="http://schemas.microsoft.com/office/drawing/2014/main" id="{290CA832-6AB8-4071-918A-3CAA5880E23E}"/>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FBB82CFB-7DDA-4C71-AF0D-A2F51DBD779B}"/>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4010484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ADC101-F901-419C-A703-96B26AC92C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3914694B-5480-4DF5-B2F7-581FE2ED4D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E05F5A48-8FE4-4248-940F-20D4AB49A352}"/>
              </a:ext>
            </a:extLst>
          </p:cNvPr>
          <p:cNvSpPr>
            <a:spLocks noGrp="1"/>
          </p:cNvSpPr>
          <p:nvPr>
            <p:ph type="dt" sz="half" idx="10"/>
          </p:nvPr>
        </p:nvSpPr>
        <p:spPr/>
        <p:txBody>
          <a:bodyPr/>
          <a:lstStyle/>
          <a:p>
            <a:fld id="{CC234863-9CBD-440D-928B-D5228E7C6C6E}" type="datetimeFigureOut">
              <a:rPr lang="en-UG" smtClean="0"/>
              <a:t>07/04/2025</a:t>
            </a:fld>
            <a:endParaRPr lang="en-UG"/>
          </a:p>
        </p:txBody>
      </p:sp>
      <p:sp>
        <p:nvSpPr>
          <p:cNvPr id="5" name="Footer Placeholder 4">
            <a:extLst>
              <a:ext uri="{FF2B5EF4-FFF2-40B4-BE49-F238E27FC236}">
                <a16:creationId xmlns:a16="http://schemas.microsoft.com/office/drawing/2014/main" id="{728993FA-A99E-4D2C-BB92-EB92BE59B0D6}"/>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7AB326A3-A63B-4234-B820-BE8A2C677B70}"/>
              </a:ext>
            </a:extLst>
          </p:cNvPr>
          <p:cNvSpPr>
            <a:spLocks noGrp="1"/>
          </p:cNvSpPr>
          <p:nvPr>
            <p:ph type="sldNum" sz="quarter" idx="12"/>
          </p:nvPr>
        </p:nvSpPr>
        <p:spPr/>
        <p:txBody>
          <a:bodyPr/>
          <a:lstStyle/>
          <a:p>
            <a:fld id="{595C6531-EBAD-482A-AE0A-075AF7391D01}" type="slidenum">
              <a:rPr lang="en-UG" smtClean="0"/>
              <a:t>‹#›</a:t>
            </a:fld>
            <a:endParaRPr lang="en-UG"/>
          </a:p>
        </p:txBody>
      </p:sp>
    </p:spTree>
    <p:extLst>
      <p:ext uri="{BB962C8B-B14F-4D97-AF65-F5344CB8AC3E}">
        <p14:creationId xmlns:p14="http://schemas.microsoft.com/office/powerpoint/2010/main" val="1437396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Content">
  <p:cSld name="Title &amp; Content">
    <p:spTree>
      <p:nvGrpSpPr>
        <p:cNvPr id="1" name="Shape 20"/>
        <p:cNvGrpSpPr/>
        <p:nvPr/>
      </p:nvGrpSpPr>
      <p:grpSpPr>
        <a:xfrm>
          <a:off x="0" y="0"/>
          <a:ext cx="0" cy="0"/>
          <a:chOff x="0" y="0"/>
          <a:chExt cx="0" cy="0"/>
        </a:xfrm>
      </p:grpSpPr>
      <p:graphicFrame>
        <p:nvGraphicFramePr>
          <p:cNvPr id="21" name="Google Shape;21;p27"/>
          <p:cNvGraphicFramePr/>
          <p:nvPr/>
        </p:nvGraphicFramePr>
        <p:xfrm>
          <a:off x="0" y="0"/>
          <a:ext cx="12192000" cy="6858000"/>
        </p:xfrm>
        <a:graphic>
          <a:graphicData uri="http://schemas.openxmlformats.org/drawingml/2006/table">
            <a:tbl>
              <a:tblPr>
                <a:noFil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762000">
                  <a:extLst>
                    <a:ext uri="{9D8B030D-6E8A-4147-A177-3AD203B41FA5}">
                      <a16:colId xmlns:a16="http://schemas.microsoft.com/office/drawing/2014/main" val="20008"/>
                    </a:ext>
                  </a:extLst>
                </a:gridCol>
                <a:gridCol w="762000">
                  <a:extLst>
                    <a:ext uri="{9D8B030D-6E8A-4147-A177-3AD203B41FA5}">
                      <a16:colId xmlns:a16="http://schemas.microsoft.com/office/drawing/2014/main" val="20009"/>
                    </a:ext>
                  </a:extLst>
                </a:gridCol>
                <a:gridCol w="762000">
                  <a:extLst>
                    <a:ext uri="{9D8B030D-6E8A-4147-A177-3AD203B41FA5}">
                      <a16:colId xmlns:a16="http://schemas.microsoft.com/office/drawing/2014/main" val="20010"/>
                    </a:ext>
                  </a:extLst>
                </a:gridCol>
                <a:gridCol w="762000">
                  <a:extLst>
                    <a:ext uri="{9D8B030D-6E8A-4147-A177-3AD203B41FA5}">
                      <a16:colId xmlns:a16="http://schemas.microsoft.com/office/drawing/2014/main" val="20011"/>
                    </a:ext>
                  </a:extLst>
                </a:gridCol>
                <a:gridCol w="762000">
                  <a:extLst>
                    <a:ext uri="{9D8B030D-6E8A-4147-A177-3AD203B41FA5}">
                      <a16:colId xmlns:a16="http://schemas.microsoft.com/office/drawing/2014/main" val="20012"/>
                    </a:ext>
                  </a:extLst>
                </a:gridCol>
                <a:gridCol w="762000">
                  <a:extLst>
                    <a:ext uri="{9D8B030D-6E8A-4147-A177-3AD203B41FA5}">
                      <a16:colId xmlns:a16="http://schemas.microsoft.com/office/drawing/2014/main" val="20013"/>
                    </a:ext>
                  </a:extLst>
                </a:gridCol>
                <a:gridCol w="762000">
                  <a:extLst>
                    <a:ext uri="{9D8B030D-6E8A-4147-A177-3AD203B41FA5}">
                      <a16:colId xmlns:a16="http://schemas.microsoft.com/office/drawing/2014/main" val="20014"/>
                    </a:ext>
                  </a:extLst>
                </a:gridCol>
                <a:gridCol w="762000">
                  <a:extLst>
                    <a:ext uri="{9D8B030D-6E8A-4147-A177-3AD203B41FA5}">
                      <a16:colId xmlns:a16="http://schemas.microsoft.com/office/drawing/2014/main" val="20015"/>
                    </a:ext>
                  </a:extLst>
                </a:gridCol>
              </a:tblGrid>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0"/>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1"/>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2"/>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3"/>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4"/>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5"/>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6"/>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7"/>
                  </a:ext>
                </a:extLst>
              </a:tr>
              <a:tr h="762000">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rgbClr val="EFEFEF">
                          <a:alpha val="0"/>
                        </a:srgb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chemeClr val="dk2">
                          <a:alpha val="0"/>
                        </a:schemeClr>
                      </a:solidFill>
                      <a:prstDash val="solid"/>
                      <a:round/>
                      <a:headEnd type="none" w="sm" len="sm"/>
                      <a:tailEnd type="none" w="sm" len="sm"/>
                    </a:lnL>
                    <a:lnR w="9525" cap="flat" cmpd="sng">
                      <a:solidFill>
                        <a:schemeClr val="dk2">
                          <a:alpha val="0"/>
                        </a:schemeClr>
                      </a:solidFill>
                      <a:prstDash val="solid"/>
                      <a:round/>
                      <a:headEnd type="none" w="sm" len="sm"/>
                      <a:tailEnd type="none" w="sm" len="sm"/>
                    </a:lnR>
                    <a:lnT w="9525" cap="flat" cmpd="sng">
                      <a:solidFill>
                        <a:schemeClr val="dk2">
                          <a:alpha val="0"/>
                        </a:schemeClr>
                      </a:solidFill>
                      <a:prstDash val="solid"/>
                      <a:round/>
                      <a:headEnd type="none" w="sm" len="sm"/>
                      <a:tailEnd type="none" w="sm" len="sm"/>
                    </a:lnT>
                    <a:lnB w="9525" cap="flat" cmpd="sng">
                      <a:solidFill>
                        <a:schemeClr val="dk2">
                          <a:alpha val="0"/>
                        </a:schemeClr>
                      </a:solidFill>
                      <a:prstDash val="solid"/>
                      <a:round/>
                      <a:headEnd type="none" w="sm" len="sm"/>
                      <a:tailEnd type="none" w="sm" len="sm"/>
                    </a:lnB>
                    <a:solidFill>
                      <a:srgbClr val="1A654C"/>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9525" cap="flat" cmpd="sng">
                      <a:solidFill>
                        <a:schemeClr val="dk2">
                          <a:alpha val="0"/>
                        </a:schemeClr>
                      </a:solidFill>
                      <a:prstDash val="solid"/>
                      <a:round/>
                      <a:headEnd type="none" w="sm" len="sm"/>
                      <a:tailEnd type="none" w="sm" len="sm"/>
                    </a:lnL>
                    <a:lnR w="9525" cap="flat" cmpd="sng">
                      <a:solidFill>
                        <a:srgbClr val="EFEFEF">
                          <a:alpha val="0"/>
                        </a:srgbClr>
                      </a:solidFill>
                      <a:prstDash val="solid"/>
                      <a:round/>
                      <a:headEnd type="none" w="sm" len="sm"/>
                      <a:tailEnd type="none" w="sm" len="sm"/>
                    </a:lnR>
                    <a:lnT w="9525" cap="flat" cmpd="sng">
                      <a:solidFill>
                        <a:srgbClr val="EFEFEF">
                          <a:alpha val="0"/>
                        </a:srgbClr>
                      </a:solidFill>
                      <a:prstDash val="solid"/>
                      <a:round/>
                      <a:headEnd type="none" w="sm" len="sm"/>
                      <a:tailEnd type="none" w="sm" len="sm"/>
                    </a:lnT>
                    <a:lnB w="9525" cap="flat" cmpd="sng">
                      <a:solidFill>
                        <a:srgbClr val="EFEFEF">
                          <a:alpha val="0"/>
                        </a:srgbClr>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22" name="Google Shape;22;p27"/>
          <p:cNvSpPr txBox="1">
            <a:spLocks noGrp="1"/>
          </p:cNvSpPr>
          <p:nvPr>
            <p:ph type="sldNum" idx="12"/>
          </p:nvPr>
        </p:nvSpPr>
        <p:spPr>
          <a:xfrm>
            <a:off x="10668000" y="6295225"/>
            <a:ext cx="762000" cy="2805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300"/>
              <a:buFont typeface="Arial"/>
              <a:buNone/>
              <a:defRPr sz="13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3" name="Google Shape;23;p27"/>
          <p:cNvSpPr txBox="1">
            <a:spLocks noGrp="1"/>
          </p:cNvSpPr>
          <p:nvPr>
            <p:ph type="body" idx="1"/>
          </p:nvPr>
        </p:nvSpPr>
        <p:spPr>
          <a:xfrm>
            <a:off x="685800" y="1264824"/>
            <a:ext cx="10820400" cy="45876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Clr>
                <a:srgbClr val="980000"/>
              </a:buClr>
              <a:buSzPts val="1800"/>
              <a:buFont typeface="Work Sans"/>
              <a:buChar char="■"/>
              <a:defRPr sz="1800">
                <a:latin typeface="Work Sans"/>
                <a:ea typeface="Work Sans"/>
                <a:cs typeface="Work Sans"/>
                <a:sym typeface="Work Sans"/>
              </a:defRPr>
            </a:lvl1pPr>
            <a:lvl2pPr marL="914400" lvl="1" indent="-342900" algn="l">
              <a:lnSpc>
                <a:spcPct val="115000"/>
              </a:lnSpc>
              <a:spcBef>
                <a:spcPts val="0"/>
              </a:spcBef>
              <a:spcAft>
                <a:spcPts val="0"/>
              </a:spcAft>
              <a:buSzPts val="1800"/>
              <a:buFont typeface="Work Sans"/>
              <a:buChar char="□"/>
              <a:defRPr sz="1800">
                <a:latin typeface="Work Sans"/>
                <a:ea typeface="Work Sans"/>
                <a:cs typeface="Work Sans"/>
                <a:sym typeface="Work Sans"/>
              </a:defRPr>
            </a:lvl2pPr>
            <a:lvl3pPr marL="1371600" lvl="2" indent="-342900" algn="l">
              <a:lnSpc>
                <a:spcPct val="115000"/>
              </a:lnSpc>
              <a:spcBef>
                <a:spcPts val="0"/>
              </a:spcBef>
              <a:spcAft>
                <a:spcPts val="0"/>
              </a:spcAft>
              <a:buClr>
                <a:schemeClr val="dk2"/>
              </a:buClr>
              <a:buSzPts val="1800"/>
              <a:buFont typeface="Work Sans"/>
              <a:buChar char="■"/>
              <a:defRPr sz="1800">
                <a:latin typeface="Work Sans"/>
                <a:ea typeface="Work Sans"/>
                <a:cs typeface="Work Sans"/>
                <a:sym typeface="Work Sans"/>
              </a:defRPr>
            </a:lvl3pPr>
            <a:lvl4pPr marL="1828800" lvl="3" indent="-342900" algn="l">
              <a:lnSpc>
                <a:spcPct val="115000"/>
              </a:lnSpc>
              <a:spcBef>
                <a:spcPts val="0"/>
              </a:spcBef>
              <a:spcAft>
                <a:spcPts val="0"/>
              </a:spcAft>
              <a:buClr>
                <a:schemeClr val="dk2"/>
              </a:buClr>
              <a:buSzPts val="1800"/>
              <a:buFont typeface="Work Sans"/>
              <a:buChar char="■"/>
              <a:defRPr sz="1800">
                <a:latin typeface="Work Sans"/>
                <a:ea typeface="Work Sans"/>
                <a:cs typeface="Work Sans"/>
                <a:sym typeface="Work Sans"/>
              </a:defRPr>
            </a:lvl4pPr>
            <a:lvl5pPr marL="2286000" lvl="4" indent="-342900" algn="l">
              <a:lnSpc>
                <a:spcPct val="115000"/>
              </a:lnSpc>
              <a:spcBef>
                <a:spcPts val="0"/>
              </a:spcBef>
              <a:spcAft>
                <a:spcPts val="0"/>
              </a:spcAft>
              <a:buSzPts val="1800"/>
              <a:buFont typeface="Work Sans"/>
              <a:buChar char="□"/>
              <a:defRPr sz="1800">
                <a:latin typeface="Work Sans"/>
                <a:ea typeface="Work Sans"/>
                <a:cs typeface="Work Sans"/>
                <a:sym typeface="Work Sans"/>
              </a:defRPr>
            </a:lvl5pPr>
            <a:lvl6pPr marL="2743200" lvl="5" indent="-342900" algn="l">
              <a:lnSpc>
                <a:spcPct val="115000"/>
              </a:lnSpc>
              <a:spcBef>
                <a:spcPts val="0"/>
              </a:spcBef>
              <a:spcAft>
                <a:spcPts val="0"/>
              </a:spcAft>
              <a:buSzPts val="1800"/>
              <a:buFont typeface="Work Sans"/>
              <a:buChar char="■"/>
              <a:defRPr sz="1800">
                <a:latin typeface="Work Sans"/>
                <a:ea typeface="Work Sans"/>
                <a:cs typeface="Work Sans"/>
                <a:sym typeface="Work Sans"/>
              </a:defRPr>
            </a:lvl6pPr>
            <a:lvl7pPr marL="3200400" lvl="6" indent="-342900" algn="l">
              <a:lnSpc>
                <a:spcPct val="115000"/>
              </a:lnSpc>
              <a:spcBef>
                <a:spcPts val="0"/>
              </a:spcBef>
              <a:spcAft>
                <a:spcPts val="0"/>
              </a:spcAft>
              <a:buSzPts val="1800"/>
              <a:buFont typeface="Work Sans"/>
              <a:buChar char="■"/>
              <a:defRPr sz="1800">
                <a:latin typeface="Work Sans"/>
                <a:ea typeface="Work Sans"/>
                <a:cs typeface="Work Sans"/>
                <a:sym typeface="Work Sans"/>
              </a:defRPr>
            </a:lvl7pPr>
            <a:lvl8pPr marL="3657600" lvl="7" indent="-342900" algn="l">
              <a:lnSpc>
                <a:spcPct val="115000"/>
              </a:lnSpc>
              <a:spcBef>
                <a:spcPts val="0"/>
              </a:spcBef>
              <a:spcAft>
                <a:spcPts val="0"/>
              </a:spcAft>
              <a:buSzPts val="1800"/>
              <a:buFont typeface="Work Sans"/>
              <a:buChar char="□"/>
              <a:defRPr sz="1800">
                <a:latin typeface="Work Sans"/>
                <a:ea typeface="Work Sans"/>
                <a:cs typeface="Work Sans"/>
                <a:sym typeface="Work Sans"/>
              </a:defRPr>
            </a:lvl8pPr>
            <a:lvl9pPr marL="4114800" lvl="8" indent="-342900" algn="l">
              <a:lnSpc>
                <a:spcPct val="115000"/>
              </a:lnSpc>
              <a:spcBef>
                <a:spcPts val="0"/>
              </a:spcBef>
              <a:spcAft>
                <a:spcPts val="0"/>
              </a:spcAft>
              <a:buSzPts val="1800"/>
              <a:buFont typeface="Work Sans"/>
              <a:buChar char="■"/>
              <a:defRPr sz="1800">
                <a:latin typeface="Work Sans"/>
                <a:ea typeface="Work Sans"/>
                <a:cs typeface="Work Sans"/>
                <a:sym typeface="Work Sans"/>
              </a:defRPr>
            </a:lvl9pPr>
          </a:lstStyle>
          <a:p>
            <a:endParaRPr/>
          </a:p>
        </p:txBody>
      </p:sp>
      <p:sp>
        <p:nvSpPr>
          <p:cNvPr id="24" name="Google Shape;24;p27"/>
          <p:cNvSpPr txBox="1">
            <a:spLocks noGrp="1"/>
          </p:cNvSpPr>
          <p:nvPr>
            <p:ph type="title"/>
          </p:nvPr>
        </p:nvSpPr>
        <p:spPr>
          <a:xfrm>
            <a:off x="685800" y="533400"/>
            <a:ext cx="10845900" cy="6096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2"/>
              </a:buClr>
              <a:buSzPts val="1400"/>
              <a:buFont typeface="Arial"/>
              <a:buNone/>
              <a:defRPr sz="3000" i="0" u="none" strike="noStrike" cap="none">
                <a:solidFill>
                  <a:schemeClr val="dk2"/>
                </a:solidFill>
                <a:latin typeface="Arial"/>
                <a:ea typeface="Arial"/>
                <a:cs typeface="Arial"/>
                <a:sym typeface="Arial"/>
              </a:defRPr>
            </a:lvl1pPr>
            <a:lvl2pPr lvl="1" algn="l">
              <a:lnSpc>
                <a:spcPct val="100000"/>
              </a:lnSpc>
              <a:spcBef>
                <a:spcPts val="0"/>
              </a:spcBef>
              <a:spcAft>
                <a:spcPts val="0"/>
              </a:spcAft>
              <a:buSzPts val="1400"/>
              <a:buFont typeface="Arial"/>
              <a:buNone/>
              <a:defRPr sz="1800">
                <a:latin typeface="Arial"/>
                <a:ea typeface="Arial"/>
                <a:cs typeface="Arial"/>
                <a:sym typeface="Arial"/>
              </a:defRPr>
            </a:lvl2pPr>
            <a:lvl3pPr lvl="2" algn="l">
              <a:lnSpc>
                <a:spcPct val="100000"/>
              </a:lnSpc>
              <a:spcBef>
                <a:spcPts val="0"/>
              </a:spcBef>
              <a:spcAft>
                <a:spcPts val="0"/>
              </a:spcAft>
              <a:buSzPts val="1400"/>
              <a:buFont typeface="Arial"/>
              <a:buNone/>
              <a:defRPr sz="1800">
                <a:latin typeface="Arial"/>
                <a:ea typeface="Arial"/>
                <a:cs typeface="Arial"/>
                <a:sym typeface="Arial"/>
              </a:defRPr>
            </a:lvl3pPr>
            <a:lvl4pPr lvl="3" algn="l">
              <a:lnSpc>
                <a:spcPct val="100000"/>
              </a:lnSpc>
              <a:spcBef>
                <a:spcPts val="0"/>
              </a:spcBef>
              <a:spcAft>
                <a:spcPts val="0"/>
              </a:spcAft>
              <a:buSzPts val="1400"/>
              <a:buFont typeface="Arial"/>
              <a:buNone/>
              <a:defRPr sz="1800">
                <a:latin typeface="Arial"/>
                <a:ea typeface="Arial"/>
                <a:cs typeface="Arial"/>
                <a:sym typeface="Arial"/>
              </a:defRPr>
            </a:lvl4pPr>
            <a:lvl5pPr lvl="4" algn="l">
              <a:lnSpc>
                <a:spcPct val="100000"/>
              </a:lnSpc>
              <a:spcBef>
                <a:spcPts val="0"/>
              </a:spcBef>
              <a:spcAft>
                <a:spcPts val="0"/>
              </a:spcAft>
              <a:buSzPts val="1400"/>
              <a:buFont typeface="Arial"/>
              <a:buNone/>
              <a:defRPr sz="1800">
                <a:latin typeface="Arial"/>
                <a:ea typeface="Arial"/>
                <a:cs typeface="Arial"/>
                <a:sym typeface="Arial"/>
              </a:defRPr>
            </a:lvl5pPr>
            <a:lvl6pPr lvl="5" algn="l">
              <a:lnSpc>
                <a:spcPct val="100000"/>
              </a:lnSpc>
              <a:spcBef>
                <a:spcPts val="0"/>
              </a:spcBef>
              <a:spcAft>
                <a:spcPts val="0"/>
              </a:spcAft>
              <a:buSzPts val="1400"/>
              <a:buFont typeface="Arial"/>
              <a:buNone/>
              <a:defRPr sz="1800">
                <a:latin typeface="Arial"/>
                <a:ea typeface="Arial"/>
                <a:cs typeface="Arial"/>
                <a:sym typeface="Arial"/>
              </a:defRPr>
            </a:lvl6pPr>
            <a:lvl7pPr lvl="6" algn="l">
              <a:lnSpc>
                <a:spcPct val="100000"/>
              </a:lnSpc>
              <a:spcBef>
                <a:spcPts val="0"/>
              </a:spcBef>
              <a:spcAft>
                <a:spcPts val="0"/>
              </a:spcAft>
              <a:buSzPts val="1400"/>
              <a:buFont typeface="Arial"/>
              <a:buNone/>
              <a:defRPr sz="1800">
                <a:latin typeface="Arial"/>
                <a:ea typeface="Arial"/>
                <a:cs typeface="Arial"/>
                <a:sym typeface="Arial"/>
              </a:defRPr>
            </a:lvl7pPr>
            <a:lvl8pPr lvl="7" algn="l">
              <a:lnSpc>
                <a:spcPct val="100000"/>
              </a:lnSpc>
              <a:spcBef>
                <a:spcPts val="0"/>
              </a:spcBef>
              <a:spcAft>
                <a:spcPts val="0"/>
              </a:spcAft>
              <a:buSzPts val="1400"/>
              <a:buFont typeface="Arial"/>
              <a:buNone/>
              <a:defRPr sz="1800">
                <a:latin typeface="Arial"/>
                <a:ea typeface="Arial"/>
                <a:cs typeface="Arial"/>
                <a:sym typeface="Arial"/>
              </a:defRPr>
            </a:lvl8pPr>
            <a:lvl9pPr lvl="8" algn="l">
              <a:lnSpc>
                <a:spcPct val="100000"/>
              </a:lnSpc>
              <a:spcBef>
                <a:spcPts val="0"/>
              </a:spcBef>
              <a:spcAft>
                <a:spcPts val="0"/>
              </a:spcAft>
              <a:buSzPts val="1400"/>
              <a:buFont typeface="Arial"/>
              <a:buNone/>
              <a:defRPr sz="1800">
                <a:latin typeface="Arial"/>
                <a:ea typeface="Arial"/>
                <a:cs typeface="Arial"/>
                <a:sym typeface="Arial"/>
              </a:defRPr>
            </a:lvl9pPr>
          </a:lstStyle>
          <a:p>
            <a:endParaRPr/>
          </a:p>
        </p:txBody>
      </p:sp>
    </p:spTree>
    <p:extLst>
      <p:ext uri="{BB962C8B-B14F-4D97-AF65-F5344CB8AC3E}">
        <p14:creationId xmlns:p14="http://schemas.microsoft.com/office/powerpoint/2010/main" val="1532062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8C4216-AB16-4018-AE9D-94070B6BB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D0AD9F53-AF9C-45A3-B9A2-6D296BCC42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E66833AA-565B-4DF3-B693-8DFE60BE25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4863-9CBD-440D-928B-D5228E7C6C6E}" type="datetimeFigureOut">
              <a:rPr lang="en-UG" smtClean="0"/>
              <a:t>07/04/2025</a:t>
            </a:fld>
            <a:endParaRPr lang="en-UG"/>
          </a:p>
        </p:txBody>
      </p:sp>
      <p:sp>
        <p:nvSpPr>
          <p:cNvPr id="5" name="Footer Placeholder 4">
            <a:extLst>
              <a:ext uri="{FF2B5EF4-FFF2-40B4-BE49-F238E27FC236}">
                <a16:creationId xmlns:a16="http://schemas.microsoft.com/office/drawing/2014/main" id="{B17A25EB-2F0C-4080-9C1F-57F12F7B96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a:extLst>
              <a:ext uri="{FF2B5EF4-FFF2-40B4-BE49-F238E27FC236}">
                <a16:creationId xmlns:a16="http://schemas.microsoft.com/office/drawing/2014/main" id="{ED0424BF-CB80-4066-9F1E-6D64CE51F5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5C6531-EBAD-482A-AE0A-075AF7391D01}" type="slidenum">
              <a:rPr lang="en-UG" smtClean="0"/>
              <a:t>‹#›</a:t>
            </a:fld>
            <a:endParaRPr lang="en-UG"/>
          </a:p>
        </p:txBody>
      </p:sp>
    </p:spTree>
    <p:extLst>
      <p:ext uri="{BB962C8B-B14F-4D97-AF65-F5344CB8AC3E}">
        <p14:creationId xmlns:p14="http://schemas.microsoft.com/office/powerpoint/2010/main" val="2095521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coopprofiler.com/"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4405-1410-454C-97D9-1F4005CFB057}"/>
              </a:ext>
            </a:extLst>
          </p:cNvPr>
          <p:cNvSpPr>
            <a:spLocks noGrp="1"/>
          </p:cNvSpPr>
          <p:nvPr>
            <p:ph type="ctrTitle"/>
          </p:nvPr>
        </p:nvSpPr>
        <p:spPr>
          <a:xfrm>
            <a:off x="543612" y="1854199"/>
            <a:ext cx="7733122" cy="1655763"/>
          </a:xfrm>
        </p:spPr>
        <p:txBody>
          <a:bodyPr>
            <a:normAutofit fontScale="90000"/>
          </a:bodyPr>
          <a:lstStyle/>
          <a:p>
            <a:pPr algn="l"/>
            <a:r>
              <a:rPr lang="en-UG" dirty="0">
                <a:latin typeface="Gill Sans MT" panose="020B0502020104020203" pitchFamily="34" charset="77"/>
              </a:rPr>
              <a:t>Coop Profiler </a:t>
            </a:r>
            <a:br>
              <a:rPr lang="en-UG" dirty="0">
                <a:latin typeface="Gill Sans MT" panose="020B0502020104020203" pitchFamily="34" charset="77"/>
              </a:rPr>
            </a:br>
            <a:r>
              <a:rPr lang="en-UG" dirty="0">
                <a:latin typeface="Gill Sans MT" panose="020B0502020104020203" pitchFamily="34" charset="77"/>
              </a:rPr>
              <a:t>Value Proposition</a:t>
            </a:r>
          </a:p>
        </p:txBody>
      </p:sp>
      <p:sp>
        <p:nvSpPr>
          <p:cNvPr id="3" name="Subtitle 2">
            <a:extLst>
              <a:ext uri="{FF2B5EF4-FFF2-40B4-BE49-F238E27FC236}">
                <a16:creationId xmlns:a16="http://schemas.microsoft.com/office/drawing/2014/main" id="{9298AC89-E330-4A01-96D0-48749DEE0379}"/>
              </a:ext>
            </a:extLst>
          </p:cNvPr>
          <p:cNvSpPr>
            <a:spLocks noGrp="1"/>
          </p:cNvSpPr>
          <p:nvPr>
            <p:ph type="subTitle" idx="1"/>
          </p:nvPr>
        </p:nvSpPr>
        <p:spPr>
          <a:xfrm>
            <a:off x="543612" y="3602038"/>
            <a:ext cx="7733122" cy="766762"/>
          </a:xfrm>
        </p:spPr>
        <p:txBody>
          <a:bodyPr/>
          <a:lstStyle/>
          <a:p>
            <a:pPr algn="l"/>
            <a:r>
              <a:rPr lang="en-UG" sz="3600" b="1" dirty="0">
                <a:solidFill>
                  <a:srgbClr val="006E57"/>
                </a:solidFill>
                <a:latin typeface="Gill Sans MT" panose="020B0502020104020203" pitchFamily="34" charset="77"/>
              </a:rPr>
              <a:t>Intelligent,Cultured, Intuitive</a:t>
            </a:r>
          </a:p>
          <a:p>
            <a:pPr algn="l"/>
            <a:endParaRPr lang="en-UG" dirty="0"/>
          </a:p>
        </p:txBody>
      </p:sp>
    </p:spTree>
    <p:extLst>
      <p:ext uri="{BB962C8B-B14F-4D97-AF65-F5344CB8AC3E}">
        <p14:creationId xmlns:p14="http://schemas.microsoft.com/office/powerpoint/2010/main" val="67919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F805D-F10A-4DFC-909F-FF0687EB69BA}"/>
              </a:ext>
            </a:extLst>
          </p:cNvPr>
          <p:cNvSpPr>
            <a:spLocks noGrp="1"/>
          </p:cNvSpPr>
          <p:nvPr>
            <p:ph idx="1"/>
          </p:nvPr>
        </p:nvSpPr>
        <p:spPr>
          <a:xfrm>
            <a:off x="572655" y="1371600"/>
            <a:ext cx="11074400" cy="5129561"/>
          </a:xfrm>
        </p:spPr>
        <p:txBody>
          <a:bodyPr>
            <a:noAutofit/>
          </a:bodyPr>
          <a:lstStyle/>
          <a:p>
            <a:pPr marL="0" indent="0" algn="just">
              <a:lnSpc>
                <a:spcPct val="114000"/>
              </a:lnSpc>
              <a:spcBef>
                <a:spcPts val="0"/>
              </a:spcBef>
              <a:buNone/>
            </a:pPr>
            <a:endParaRPr lang="en-UG" sz="1800" dirty="0">
              <a:effectLst/>
              <a:latin typeface="Gill Sans MT" panose="020B0502020104020203" pitchFamily="34" charset="77"/>
              <a:ea typeface="Book Antiqua" panose="02040602050305030304" pitchFamily="18" charset="0"/>
              <a:cs typeface="Book Antiqua" panose="02040602050305030304" pitchFamily="18" charset="0"/>
            </a:endParaRPr>
          </a:p>
          <a:p>
            <a:pPr marL="0" indent="0" algn="just">
              <a:buNone/>
            </a:pPr>
            <a:endParaRPr lang="en-UG" sz="1800" dirty="0">
              <a:latin typeface="Gill Sans MT" panose="020B0502020104020203" pitchFamily="34" charset="77"/>
            </a:endParaRPr>
          </a:p>
        </p:txBody>
      </p:sp>
      <p:pic>
        <p:nvPicPr>
          <p:cNvPr id="5" name="Picture 4">
            <a:extLst>
              <a:ext uri="{FF2B5EF4-FFF2-40B4-BE49-F238E27FC236}">
                <a16:creationId xmlns:a16="http://schemas.microsoft.com/office/drawing/2014/main" id="{06C64935-BF20-CE96-3A77-64219C1E9C58}"/>
              </a:ext>
            </a:extLst>
          </p:cNvPr>
          <p:cNvPicPr>
            <a:picLocks noChangeAspect="1"/>
          </p:cNvPicPr>
          <p:nvPr/>
        </p:nvPicPr>
        <p:blipFill>
          <a:blip r:embed="rId3"/>
          <a:stretch>
            <a:fillRect/>
          </a:stretch>
        </p:blipFill>
        <p:spPr>
          <a:xfrm>
            <a:off x="361244" y="356839"/>
            <a:ext cx="11548533" cy="6144322"/>
          </a:xfrm>
          <a:prstGeom prst="rect">
            <a:avLst/>
          </a:prstGeom>
        </p:spPr>
      </p:pic>
    </p:spTree>
    <p:extLst>
      <p:ext uri="{BB962C8B-B14F-4D97-AF65-F5344CB8AC3E}">
        <p14:creationId xmlns:p14="http://schemas.microsoft.com/office/powerpoint/2010/main" val="1050501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9DF3-52BB-451F-BEFC-3C10E28B9A6C}"/>
              </a:ext>
            </a:extLst>
          </p:cNvPr>
          <p:cNvSpPr>
            <a:spLocks noGrp="1"/>
          </p:cNvSpPr>
          <p:nvPr>
            <p:ph type="title"/>
          </p:nvPr>
        </p:nvSpPr>
        <p:spPr>
          <a:xfrm>
            <a:off x="583944" y="311035"/>
            <a:ext cx="4992767" cy="649785"/>
          </a:xfrm>
        </p:spPr>
        <p:txBody>
          <a:bodyPr>
            <a:normAutofit fontScale="90000"/>
          </a:bodyPr>
          <a:lstStyle/>
          <a:p>
            <a:r>
              <a:rPr lang="en-US" b="1" dirty="0">
                <a:solidFill>
                  <a:srgbClr val="006E57"/>
                </a:solidFill>
                <a:latin typeface="Gill Sans MT" panose="020B0502020104020203" pitchFamily="34" charset="77"/>
              </a:rPr>
              <a:t>The problem </a:t>
            </a:r>
            <a:endParaRPr lang="en-UG" dirty="0"/>
          </a:p>
        </p:txBody>
      </p:sp>
      <p:sp>
        <p:nvSpPr>
          <p:cNvPr id="5" name="TextBox 4">
            <a:extLst>
              <a:ext uri="{FF2B5EF4-FFF2-40B4-BE49-F238E27FC236}">
                <a16:creationId xmlns:a16="http://schemas.microsoft.com/office/drawing/2014/main" id="{BE86711A-D964-4BF7-FBC5-1E0CB298496F}"/>
              </a:ext>
            </a:extLst>
          </p:cNvPr>
          <p:cNvSpPr txBox="1"/>
          <p:nvPr/>
        </p:nvSpPr>
        <p:spPr>
          <a:xfrm>
            <a:off x="335844" y="960820"/>
            <a:ext cx="11520311" cy="5586145"/>
          </a:xfrm>
          <a:prstGeom prst="rect">
            <a:avLst/>
          </a:prstGeom>
          <a:noFill/>
        </p:spPr>
        <p:txBody>
          <a:bodyPr wrap="square">
            <a:spAutoFit/>
          </a:bodyPr>
          <a:lstStyle/>
          <a:p>
            <a:pPr marL="285750" indent="-285750" algn="just">
              <a:buFont typeface="Wingdings" pitchFamily="2" charset="2"/>
              <a:buChar char="q"/>
            </a:pPr>
            <a:r>
              <a:rPr lang="en-GB" sz="1700" dirty="0">
                <a:effectLst/>
                <a:latin typeface="Gill Sans MT" panose="020B0502020104020203" pitchFamily="34" charset="77"/>
                <a:ea typeface="Book Antiqua" panose="02040602050305030304" pitchFamily="18" charset="0"/>
                <a:cs typeface="Book Antiqua" panose="02040602050305030304" pitchFamily="18" charset="0"/>
              </a:rPr>
              <a:t>In most cases, cooperative managers and leaders do not have data on the holistic status of their cooperative and that of the members. They make decisions based on guess work and are often caught off-guard by both negative and positive disruptions.</a:t>
            </a:r>
          </a:p>
          <a:p>
            <a:pPr marL="285750" indent="-285750" algn="just">
              <a:buFont typeface="Wingdings" pitchFamily="2" charset="2"/>
              <a:buChar char="q"/>
            </a:pPr>
            <a:endParaRPr lang="en-UG" sz="1600" dirty="0">
              <a:solidFill>
                <a:srgbClr val="000000"/>
              </a:solidFill>
              <a:effectLst/>
              <a:latin typeface="Gill Sans MT" panose="020B0502020104020203" pitchFamily="34" charset="77"/>
              <a:ea typeface="Muli" panose="02000503040000020004" pitchFamily="2" charset="0"/>
              <a:cs typeface="Muli" panose="02000503040000020004" pitchFamily="2" charset="0"/>
            </a:endParaRPr>
          </a:p>
          <a:p>
            <a:pPr marL="285750" indent="-285750" algn="just">
              <a:buFont typeface="Wingdings" pitchFamily="2" charset="2"/>
              <a:buChar char="q"/>
            </a:pPr>
            <a:r>
              <a:rPr lang="en-UG" sz="1700" dirty="0">
                <a:solidFill>
                  <a:srgbClr val="000000"/>
                </a:solidFill>
                <a:effectLst/>
                <a:latin typeface="Gill Sans MT" panose="020B0502020104020203" pitchFamily="34" charset="77"/>
                <a:ea typeface="Muli" panose="02000503040000020004" pitchFamily="2" charset="0"/>
                <a:cs typeface="Muli" panose="02000503040000020004" pitchFamily="2" charset="0"/>
              </a:rPr>
              <a:t>Globally, there is no standardised tool that enables cooperative data aggregation, performance and resilience measurement based on the cooperative, fundamentals, values and principles. A few innovations not specifically aimed at measuring cooperative resilience but rather the financial performance of Savings &amp; Credit Cooperative Organisations and agricultural cooperatives exist</a:t>
            </a:r>
            <a:r>
              <a:rPr lang="en-GB" sz="1700" dirty="0">
                <a:effectLst/>
                <a:latin typeface="Gill Sans MT" panose="020B0502020104020203" pitchFamily="34" charset="77"/>
                <a:ea typeface="Book Antiqua" panose="02040602050305030304" pitchFamily="18" charset="0"/>
                <a:cs typeface="Book Antiqua" panose="02040602050305030304" pitchFamily="18" charset="0"/>
              </a:rPr>
              <a:t>. </a:t>
            </a:r>
          </a:p>
          <a:p>
            <a:pPr marL="285750" indent="-285750" algn="just">
              <a:buFont typeface="Wingdings" pitchFamily="2" charset="2"/>
              <a:buChar char="q"/>
            </a:pPr>
            <a:endParaRPr lang="en-GB" sz="1700" dirty="0">
              <a:latin typeface="Gill Sans MT" panose="020B0502020104020203" pitchFamily="34" charset="77"/>
              <a:ea typeface="Book Antiqua" panose="02040602050305030304" pitchFamily="18" charset="0"/>
              <a:cs typeface="Book Antiqua" panose="02040602050305030304" pitchFamily="18" charset="0"/>
            </a:endParaRPr>
          </a:p>
          <a:p>
            <a:pPr marL="285750" indent="-285750" algn="just">
              <a:buFont typeface="Wingdings" pitchFamily="2" charset="2"/>
              <a:buChar char="q"/>
            </a:pPr>
            <a:r>
              <a:rPr lang="en-UG" sz="1700" dirty="0">
                <a:solidFill>
                  <a:srgbClr val="000000"/>
                </a:solidFill>
                <a:effectLst/>
                <a:latin typeface="Gill Sans MT" panose="020B0502020104020203" pitchFamily="34" charset="77"/>
                <a:ea typeface="Book Antiqua" panose="02040602050305030304" pitchFamily="18" charset="0"/>
                <a:cs typeface="Book Antiqua" panose="02040602050305030304" pitchFamily="18" charset="0"/>
              </a:rPr>
              <a:t>Furthermore, some cooperatives possess unequivocal control over personal and business data, this redirects power and benefits away from the owners of this data. For example most SACCOs often collect data at loan appriasal stage for the sake of the loan but don’t seek to understand if the cooperative products and services are meeting the members’ needs and expectations</a:t>
            </a:r>
          </a:p>
          <a:p>
            <a:pPr marL="285750" indent="-285750" algn="just">
              <a:buFont typeface="Wingdings" pitchFamily="2" charset="2"/>
              <a:buChar char="q"/>
            </a:pPr>
            <a:endParaRPr lang="en-UG" sz="1700" dirty="0">
              <a:solidFill>
                <a:srgbClr val="000000"/>
              </a:solidFill>
              <a:effectLst/>
              <a:latin typeface="Gill Sans MT" panose="020B0502020104020203" pitchFamily="34" charset="77"/>
              <a:ea typeface="Book Antiqua" panose="02040602050305030304" pitchFamily="18" charset="0"/>
              <a:cs typeface="Book Antiqua" panose="02040602050305030304" pitchFamily="18" charset="0"/>
            </a:endParaRPr>
          </a:p>
          <a:p>
            <a:pPr marL="285750" indent="-285750" algn="just">
              <a:buFont typeface="Wingdings" pitchFamily="2" charset="2"/>
              <a:buChar char="q"/>
            </a:pPr>
            <a:r>
              <a:rPr lang="en-UG" sz="1700" dirty="0">
                <a:solidFill>
                  <a:srgbClr val="000000"/>
                </a:solidFill>
                <a:latin typeface="Gill Sans MT" panose="020B0502020104020203" pitchFamily="34" charset="77"/>
                <a:ea typeface="Book Antiqua" panose="02040602050305030304" pitchFamily="18" charset="0"/>
                <a:cs typeface="Book Antiqua" panose="02040602050305030304" pitchFamily="18" charset="0"/>
              </a:rPr>
              <a:t>Moreso, there are data silos enabled by duplicated affort in data aggregation, mostly devoid of collaborative  functionalities that enhance standardised aggregation, storage, reporting, security and access which in turn faciliate uniformity and comparability. </a:t>
            </a:r>
          </a:p>
          <a:p>
            <a:pPr marL="285750" indent="-285750" algn="just">
              <a:buFont typeface="Wingdings" pitchFamily="2" charset="2"/>
              <a:buChar char="q"/>
            </a:pPr>
            <a:endParaRPr lang="en-UG" sz="1700" dirty="0">
              <a:solidFill>
                <a:srgbClr val="000000"/>
              </a:solidFill>
              <a:effectLst/>
              <a:latin typeface="Gill Sans MT" panose="020B0502020104020203" pitchFamily="34" charset="77"/>
              <a:ea typeface="Book Antiqua" panose="02040602050305030304" pitchFamily="18" charset="0"/>
              <a:cs typeface="Book Antiqua" panose="02040602050305030304" pitchFamily="18" charset="0"/>
            </a:endParaRPr>
          </a:p>
          <a:p>
            <a:pPr marL="285750" indent="-285750" algn="just">
              <a:buFont typeface="Wingdings" pitchFamily="2" charset="2"/>
              <a:buChar char="q"/>
            </a:pPr>
            <a:r>
              <a:rPr lang="en-UG" sz="1700" dirty="0">
                <a:solidFill>
                  <a:srgbClr val="000000"/>
                </a:solidFill>
                <a:effectLst/>
                <a:latin typeface="Gill Sans MT" panose="020B0502020104020203" pitchFamily="34" charset="77"/>
                <a:ea typeface="Book Antiqua" panose="02040602050305030304" pitchFamily="18" charset="0"/>
                <a:cs typeface="Book Antiqua" panose="02040602050305030304" pitchFamily="18" charset="0"/>
              </a:rPr>
              <a:t>Having looked at these challenges, the Uhuru Institute for Social Development developed the Coop Profiler  and Cooperative Resilience Measurement Index which provide insights on the extent to which cooperatives and members  are upholding the cooperative fundamentals, values and principles to become or remain collaborative, have a stong market position, be aware of what is happening in and around it, flexible, agile, adaptive to ICT and innovative solutions while ensuring its visibility amongst members and stakeholders facilitating a secure and sustainable approach to its internal and external environments</a:t>
            </a:r>
            <a:endParaRPr lang="en-UG" sz="1700" dirty="0">
              <a:solidFill>
                <a:srgbClr val="000000"/>
              </a:solidFill>
              <a:effectLst/>
              <a:latin typeface="Book Antiqua" panose="02040602050305030304" pitchFamily="18" charset="0"/>
              <a:ea typeface="Muli" panose="02000503040000020004" pitchFamily="2" charset="0"/>
              <a:cs typeface="Muli" panose="02000503040000020004" pitchFamily="2" charset="0"/>
            </a:endParaRPr>
          </a:p>
        </p:txBody>
      </p:sp>
    </p:spTree>
    <p:extLst>
      <p:ext uri="{BB962C8B-B14F-4D97-AF65-F5344CB8AC3E}">
        <p14:creationId xmlns:p14="http://schemas.microsoft.com/office/powerpoint/2010/main" val="3646585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792EE06-913D-0C8A-57D0-96D25FF30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437A2-0BAC-E5FE-AFD8-F60E20B93A62}"/>
              </a:ext>
            </a:extLst>
          </p:cNvPr>
          <p:cNvSpPr>
            <a:spLocks noGrp="1"/>
          </p:cNvSpPr>
          <p:nvPr>
            <p:ph type="title"/>
          </p:nvPr>
        </p:nvSpPr>
        <p:spPr>
          <a:xfrm>
            <a:off x="572655" y="396150"/>
            <a:ext cx="11074400" cy="975450"/>
          </a:xfrm>
        </p:spPr>
        <p:txBody>
          <a:bodyPr/>
          <a:lstStyle/>
          <a:p>
            <a:r>
              <a:rPr lang="en-US" b="1" dirty="0">
                <a:solidFill>
                  <a:srgbClr val="006E57"/>
                </a:solidFill>
                <a:latin typeface="Gill Sans MT" panose="020B0502020104020203" pitchFamily="34" charset="77"/>
              </a:rPr>
              <a:t>Our Solution</a:t>
            </a:r>
            <a:endParaRPr lang="en-UG" dirty="0"/>
          </a:p>
        </p:txBody>
      </p:sp>
      <p:sp>
        <p:nvSpPr>
          <p:cNvPr id="3" name="Content Placeholder 2">
            <a:extLst>
              <a:ext uri="{FF2B5EF4-FFF2-40B4-BE49-F238E27FC236}">
                <a16:creationId xmlns:a16="http://schemas.microsoft.com/office/drawing/2014/main" id="{49861F1A-945D-5200-130B-6B97C8A3AA0B}"/>
              </a:ext>
            </a:extLst>
          </p:cNvPr>
          <p:cNvSpPr>
            <a:spLocks noGrp="1"/>
          </p:cNvSpPr>
          <p:nvPr>
            <p:ph idx="1"/>
          </p:nvPr>
        </p:nvSpPr>
        <p:spPr>
          <a:xfrm>
            <a:off x="388266" y="1220777"/>
            <a:ext cx="11258789" cy="5241073"/>
          </a:xfrm>
        </p:spPr>
        <p:txBody>
          <a:bodyPr>
            <a:normAutofit/>
          </a:bodyPr>
          <a:lstStyle/>
          <a:p>
            <a:pPr algn="just">
              <a:lnSpc>
                <a:spcPct val="114000"/>
              </a:lnSpc>
              <a:buFont typeface="Wingdings" pitchFamily="2" charset="2"/>
              <a:buChar char="§"/>
            </a:pPr>
            <a:r>
              <a:rPr lang="en-UG" sz="1800" dirty="0">
                <a:latin typeface="Gill Sans MT" panose="020B0502020104020203" pitchFamily="34" charset="77"/>
              </a:rPr>
              <a:t>Coop Profiler is an agile research and decision support tool with inbuilt questionaires, analytics, reports and the Cooperative Resilience Measurement Index- </a:t>
            </a:r>
            <a:r>
              <a:rPr lang="en-US" sz="1800" dirty="0">
                <a:latin typeface="Gill Sans MT" panose="020B0502020104020203" pitchFamily="34" charset="77"/>
              </a:rPr>
              <a:t>a multi-dimensional </a:t>
            </a:r>
            <a:r>
              <a:rPr lang="en-US" sz="1800" b="1" dirty="0">
                <a:latin typeface="Gill Sans MT" panose="020B0502020104020203" pitchFamily="34" charset="77"/>
              </a:rPr>
              <a:t>resilience measurement a framework</a:t>
            </a:r>
            <a:r>
              <a:rPr lang="en-US" sz="1800" dirty="0">
                <a:latin typeface="Gill Sans MT" panose="020B0502020104020203" pitchFamily="34" charset="77"/>
              </a:rPr>
              <a:t> </a:t>
            </a:r>
            <a:r>
              <a:rPr lang="en-US" sz="1800" b="1" dirty="0">
                <a:latin typeface="Gill Sans MT" panose="020B0502020104020203" pitchFamily="34" charset="77"/>
              </a:rPr>
              <a:t>built on the backbone of cooperative identity; </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designed to </a:t>
            </a:r>
            <a:r>
              <a:rPr lang="en-GB" sz="1800" dirty="0">
                <a:latin typeface="Gill Sans MT" panose="020B0502020104020203" pitchFamily="34" charset="77"/>
                <a:ea typeface="Book Antiqua" panose="02040602050305030304" pitchFamily="18" charset="0"/>
                <a:cs typeface="Book Antiqua" panose="02040602050305030304" pitchFamily="18" charset="0"/>
              </a:rPr>
              <a:t>power </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cooperative resilience and foster sustainable development by identifying business gaps and projecting solutions through collaborative data governance frameworks.</a:t>
            </a:r>
            <a:endParaRPr lang="en-UG" sz="1800" dirty="0">
              <a:latin typeface="Gill Sans MT" panose="020B0502020104020203" pitchFamily="34" charset="77"/>
              <a:ea typeface="Book Antiqua" panose="02040602050305030304" pitchFamily="18" charset="0"/>
              <a:cs typeface="Book Antiqua" panose="02040602050305030304" pitchFamily="18" charset="0"/>
            </a:endParaRPr>
          </a:p>
          <a:p>
            <a:pPr algn="just">
              <a:lnSpc>
                <a:spcPct val="114000"/>
              </a:lnSpc>
              <a:buFont typeface="Wingdings" pitchFamily="2" charset="2"/>
              <a:buChar char="§"/>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The software has been tailored for all types of cooperative businesses e.g. financial, agricultural, industrial, housing, manufacturing etc; government agencies, private sector e.g. banks, off takers and development partners. Partners </a:t>
            </a:r>
            <a:r>
              <a:rPr lang="en-UG" sz="1800" dirty="0">
                <a:effectLst/>
                <a:latin typeface="Gill Sans MT" panose="020B0502020104020203" pitchFamily="34" charset="77"/>
                <a:ea typeface="Book Antiqua" panose="02040602050305030304" pitchFamily="18" charset="0"/>
                <a:cs typeface="Book Antiqua" panose="02040602050305030304" pitchFamily="18" charset="0"/>
              </a:rPr>
              <a:t>can rank the data subjects based on differenet parameters and know how best to help them.</a:t>
            </a:r>
            <a:endParaRPr lang="en-GB" sz="1800" dirty="0">
              <a:effectLst/>
              <a:latin typeface="Gill Sans MT" panose="020B0502020104020203" pitchFamily="34" charset="77"/>
              <a:ea typeface="Book Antiqua" panose="02040602050305030304" pitchFamily="18" charset="0"/>
              <a:cs typeface="Book Antiqua" panose="02040602050305030304" pitchFamily="18" charset="0"/>
            </a:endParaRPr>
          </a:p>
          <a:p>
            <a:pPr algn="just">
              <a:lnSpc>
                <a:spcPct val="114000"/>
              </a:lnSpc>
              <a:buFont typeface="Wingdings" pitchFamily="2" charset="2"/>
              <a:buChar char="§"/>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Data on individual members, groups and cooperatives are collected anytime and updated annually into a customised database and dashboard, which can be accessed independently by the cooperative </a:t>
            </a:r>
            <a:r>
              <a:rPr lang="en-US" sz="1800" dirty="0">
                <a:effectLst/>
                <a:latin typeface="Gill Sans MT" panose="020B0502020104020203" pitchFamily="34" charset="77"/>
                <a:ea typeface="Book Antiqua" panose="02040602050305030304" pitchFamily="18" charset="0"/>
                <a:cs typeface="Book Antiqua" panose="02040602050305030304" pitchFamily="18" charset="0"/>
              </a:rPr>
              <a:t>along with its partners who would have been granted access by the data owners i.e. the cooperative. Access granted by the cooperative can be restricted or unrestricted depending on the agreed and documented </a:t>
            </a:r>
            <a:r>
              <a:rPr lang="en-US" sz="1800" dirty="0">
                <a:latin typeface="Gill Sans MT" panose="020B0502020104020203" pitchFamily="34" charset="77"/>
                <a:ea typeface="Book Antiqua" panose="02040602050305030304" pitchFamily="18" charset="0"/>
                <a:cs typeface="Book Antiqua" panose="02040602050305030304" pitchFamily="18" charset="0"/>
              </a:rPr>
              <a:t>agreement between the partners.</a:t>
            </a:r>
            <a:endParaRPr lang="en-US" sz="1800" dirty="0">
              <a:latin typeface="Gill Sans MT" panose="020B0502020104020203" pitchFamily="34" charset="77"/>
            </a:endParaRPr>
          </a:p>
          <a:p>
            <a:pPr algn="just">
              <a:lnSpc>
                <a:spcPct val="114000"/>
              </a:lnSpc>
              <a:spcBef>
                <a:spcPts val="600"/>
              </a:spcBef>
              <a:spcAft>
                <a:spcPts val="600"/>
              </a:spcAft>
              <a:buFont typeface="Wingdings" pitchFamily="2" charset="2"/>
              <a:buChar char="§"/>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The software is accessible via web on </a:t>
            </a:r>
            <a:r>
              <a:rPr lang="en-UG" sz="1800" dirty="0">
                <a:latin typeface="Gill Sans MT" panose="020B0502020104020203" pitchFamily="34" charset="77"/>
                <a:hlinkClick r:id="rId3"/>
              </a:rPr>
              <a:t>www.coopprofiler.com</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 It has offline and online data aggregation along with internet powered analysis and document centre capabilities which provide a collaborative, standardised framework for competitive, antifragile and sustainably resilient cooperatives, partners and regulators thus the opportunity for shared and private gain. </a:t>
            </a:r>
            <a:endParaRPr lang="en-UG" sz="1800" dirty="0">
              <a:latin typeface="Gill Sans MT" panose="020B0502020104020203" pitchFamily="34" charset="77"/>
              <a:ea typeface="Book Antiqua" panose="02040602050305030304" pitchFamily="18" charset="0"/>
              <a:cs typeface="Book Antiqua" panose="02040602050305030304" pitchFamily="18" charset="0"/>
            </a:endParaRPr>
          </a:p>
        </p:txBody>
      </p:sp>
    </p:spTree>
    <p:extLst>
      <p:ext uri="{BB962C8B-B14F-4D97-AF65-F5344CB8AC3E}">
        <p14:creationId xmlns:p14="http://schemas.microsoft.com/office/powerpoint/2010/main" val="2172383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9DF3-52BB-451F-BEFC-3C10E28B9A6C}"/>
              </a:ext>
            </a:extLst>
          </p:cNvPr>
          <p:cNvSpPr>
            <a:spLocks noGrp="1"/>
          </p:cNvSpPr>
          <p:nvPr>
            <p:ph type="title"/>
          </p:nvPr>
        </p:nvSpPr>
        <p:spPr>
          <a:xfrm>
            <a:off x="558800" y="372322"/>
            <a:ext cx="11074400" cy="742800"/>
          </a:xfrm>
        </p:spPr>
        <p:txBody>
          <a:bodyPr>
            <a:normAutofit/>
          </a:bodyPr>
          <a:lstStyle/>
          <a:p>
            <a:r>
              <a:rPr lang="en-US" b="1" dirty="0">
                <a:solidFill>
                  <a:srgbClr val="006E57"/>
                </a:solidFill>
                <a:latin typeface="Gill Sans MT" panose="020B0502020104020203" pitchFamily="34" charset="77"/>
              </a:rPr>
              <a:t>Our Solution</a:t>
            </a:r>
            <a:endParaRPr lang="en-UG" dirty="0"/>
          </a:p>
        </p:txBody>
      </p:sp>
      <p:sp>
        <p:nvSpPr>
          <p:cNvPr id="3" name="Content Placeholder 2">
            <a:extLst>
              <a:ext uri="{FF2B5EF4-FFF2-40B4-BE49-F238E27FC236}">
                <a16:creationId xmlns:a16="http://schemas.microsoft.com/office/drawing/2014/main" id="{6A7F805D-F10A-4DFC-909F-FF0687EB69BA}"/>
              </a:ext>
            </a:extLst>
          </p:cNvPr>
          <p:cNvSpPr>
            <a:spLocks noGrp="1"/>
          </p:cNvSpPr>
          <p:nvPr>
            <p:ph idx="1"/>
          </p:nvPr>
        </p:nvSpPr>
        <p:spPr>
          <a:xfrm>
            <a:off x="558800" y="1194521"/>
            <a:ext cx="11074400" cy="5291157"/>
          </a:xfrm>
        </p:spPr>
        <p:txBody>
          <a:bodyPr>
            <a:normAutofit/>
          </a:bodyPr>
          <a:lstStyle/>
          <a:p>
            <a:pPr marL="0" indent="0" algn="just">
              <a:lnSpc>
                <a:spcPct val="114000"/>
              </a:lnSpc>
              <a:spcBef>
                <a:spcPts val="600"/>
              </a:spcBef>
              <a:buNone/>
            </a:pPr>
            <a:r>
              <a:rPr lang="en-UG" sz="1700" dirty="0">
                <a:latin typeface="Gill Sans MT" panose="020B0502020104020203" pitchFamily="34" charset="77"/>
              </a:rPr>
              <a:t>The software is powered by the individual and cooperative questionaires, baseline queries and the Cooperative Resilience Measurement Index(CRMI), the first of its kind in the world.</a:t>
            </a:r>
          </a:p>
          <a:p>
            <a:pPr marL="0" indent="0" algn="just">
              <a:lnSpc>
                <a:spcPct val="114000"/>
              </a:lnSpc>
              <a:spcBef>
                <a:spcPts val="600"/>
              </a:spcBef>
              <a:buNone/>
            </a:pPr>
            <a:r>
              <a:rPr lang="en-GB" sz="1700" dirty="0">
                <a:effectLst/>
                <a:latin typeface="Gill Sans MT" panose="020B0502020104020203" pitchFamily="34" charset="77"/>
                <a:ea typeface="Book Antiqua" panose="02040602050305030304" pitchFamily="18" charset="0"/>
                <a:cs typeface="Book Antiqua" panose="02040602050305030304" pitchFamily="18" charset="0"/>
              </a:rPr>
              <a:t>The CRMI tracks the levels of adherence to the ten cooperative values and the seven universal cooperative principles </a:t>
            </a:r>
            <a:r>
              <a:rPr lang="en-GB" sz="1700" b="1" dirty="0">
                <a:effectLst/>
                <a:latin typeface="Gill Sans MT" panose="020B0502020104020203" pitchFamily="34" charset="77"/>
                <a:ea typeface="Book Antiqua" panose="02040602050305030304" pitchFamily="18" charset="0"/>
                <a:cs typeface="Book Antiqua" panose="02040602050305030304" pitchFamily="18" charset="0"/>
              </a:rPr>
              <a:t>(</a:t>
            </a:r>
            <a:r>
              <a:rPr lang="en-GB" sz="1700" dirty="0">
                <a:solidFill>
                  <a:srgbClr val="000000"/>
                </a:solidFill>
                <a:effectLst/>
                <a:latin typeface="Gill Sans MT" panose="020B0502020104020203" pitchFamily="34" charset="77"/>
                <a:ea typeface="Book Antiqua" panose="02040602050305030304" pitchFamily="18" charset="0"/>
                <a:cs typeface="Book Antiqua" panose="02040602050305030304" pitchFamily="18" charset="0"/>
              </a:rPr>
              <a:t>as manifested in the individual and corporate organisation</a:t>
            </a:r>
            <a:r>
              <a:rPr lang="en-GB" sz="1700" dirty="0">
                <a:effectLst/>
                <a:latin typeface="Gill Sans MT" panose="020B0502020104020203" pitchFamily="34" charset="77"/>
                <a:ea typeface="Book Antiqua" panose="02040602050305030304" pitchFamily="18" charset="0"/>
                <a:cs typeface="Book Antiqua" panose="02040602050305030304" pitchFamily="18" charset="0"/>
              </a:rPr>
              <a:t>’s</a:t>
            </a:r>
            <a:r>
              <a:rPr lang="en-GB" sz="1700" dirty="0">
                <a:solidFill>
                  <a:srgbClr val="000000"/>
                </a:solidFill>
                <a:effectLst/>
                <a:latin typeface="Gill Sans MT" panose="020B0502020104020203" pitchFamily="34" charset="77"/>
                <a:ea typeface="Book Antiqua" panose="02040602050305030304" pitchFamily="18" charset="0"/>
                <a:cs typeface="Book Antiqua" panose="02040602050305030304" pitchFamily="18" charset="0"/>
              </a:rPr>
              <a:t> processes, behaviour, culture of membership and relevant stakeholders as well as the impact of the cooperatives in communities.</a:t>
            </a:r>
            <a:endParaRPr lang="en-UG" sz="1700" dirty="0">
              <a:effectLst/>
              <a:latin typeface="Gill Sans MT" panose="020B0502020104020203" pitchFamily="34" charset="77"/>
              <a:ea typeface="Book Antiqua" panose="02040602050305030304" pitchFamily="18" charset="0"/>
              <a:cs typeface="Book Antiqua" panose="02040602050305030304" pitchFamily="18" charset="0"/>
            </a:endParaRPr>
          </a:p>
          <a:p>
            <a:pPr marL="0" indent="0">
              <a:buNone/>
            </a:pPr>
            <a:endParaRPr lang="en-UG" sz="1800" dirty="0"/>
          </a:p>
        </p:txBody>
      </p:sp>
      <p:pic>
        <p:nvPicPr>
          <p:cNvPr id="7" name="Google Shape;548;p6" descr="Co-ops Value: Self-help, Self-responsibility, Democracy, Equality, Equity, &amp; Solidarity">
            <a:extLst>
              <a:ext uri="{FF2B5EF4-FFF2-40B4-BE49-F238E27FC236}">
                <a16:creationId xmlns:a16="http://schemas.microsoft.com/office/drawing/2014/main" id="{6E805A4F-642C-ACA3-6448-43714E8C42EE}"/>
              </a:ext>
            </a:extLst>
          </p:cNvPr>
          <p:cNvPicPr preferRelativeResize="0"/>
          <p:nvPr/>
        </p:nvPicPr>
        <p:blipFill rotWithShape="1">
          <a:blip r:embed="rId3">
            <a:alphaModFix/>
          </a:blip>
          <a:srcRect/>
          <a:stretch/>
        </p:blipFill>
        <p:spPr>
          <a:xfrm>
            <a:off x="708528" y="3194754"/>
            <a:ext cx="2691390" cy="3206045"/>
          </a:xfrm>
          <a:prstGeom prst="rect">
            <a:avLst/>
          </a:prstGeom>
          <a:noFill/>
          <a:ln>
            <a:noFill/>
          </a:ln>
        </p:spPr>
      </p:pic>
      <p:sp>
        <p:nvSpPr>
          <p:cNvPr id="8" name="Google Shape;550;p6">
            <a:extLst>
              <a:ext uri="{FF2B5EF4-FFF2-40B4-BE49-F238E27FC236}">
                <a16:creationId xmlns:a16="http://schemas.microsoft.com/office/drawing/2014/main" id="{A3B97701-052D-CC8F-F7C8-DA157B7F8674}"/>
              </a:ext>
            </a:extLst>
          </p:cNvPr>
          <p:cNvSpPr txBox="1"/>
          <p:nvPr/>
        </p:nvSpPr>
        <p:spPr>
          <a:xfrm>
            <a:off x="3977834" y="3429000"/>
            <a:ext cx="2422966" cy="1648177"/>
          </a:xfrm>
          <a:prstGeom prst="rect">
            <a:avLst/>
          </a:prstGeom>
          <a:solidFill>
            <a:srgbClr val="00206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285750" marR="0" lvl="0" indent="-285750" algn="l" rtl="0">
              <a:lnSpc>
                <a:spcPct val="107000"/>
              </a:lnSpc>
              <a:spcBef>
                <a:spcPts val="0"/>
              </a:spcBef>
              <a:spcAft>
                <a:spcPts val="0"/>
              </a:spcAft>
              <a:buFont typeface="Wingdings" pitchFamily="2" charset="2"/>
              <a:buChar char="q"/>
            </a:pPr>
            <a:r>
              <a:rPr lang="en-US" sz="1800" b="0" i="0" u="none" strike="noStrike" cap="none" dirty="0">
                <a:solidFill>
                  <a:schemeClr val="lt1"/>
                </a:solidFill>
                <a:latin typeface="Gill Sans"/>
                <a:ea typeface="Gill Sans"/>
                <a:cs typeface="Gill Sans"/>
                <a:sym typeface="Gill Sans"/>
              </a:rPr>
              <a:t>Honesty</a:t>
            </a:r>
            <a:endParaRPr dirty="0"/>
          </a:p>
          <a:p>
            <a:pPr marL="285750" marR="0" lvl="0" indent="-285750" algn="l" rtl="0">
              <a:lnSpc>
                <a:spcPct val="107000"/>
              </a:lnSpc>
              <a:spcBef>
                <a:spcPts val="400"/>
              </a:spcBef>
              <a:spcAft>
                <a:spcPts val="0"/>
              </a:spcAft>
              <a:buFont typeface="Wingdings" pitchFamily="2" charset="2"/>
              <a:buChar char="q"/>
            </a:pPr>
            <a:r>
              <a:rPr lang="en-US" sz="1800" b="0" i="0" u="none" strike="noStrike" cap="none" dirty="0">
                <a:solidFill>
                  <a:schemeClr val="lt1"/>
                </a:solidFill>
                <a:latin typeface="Gill Sans"/>
                <a:ea typeface="Gill Sans"/>
                <a:cs typeface="Gill Sans"/>
                <a:sym typeface="Gill Sans"/>
              </a:rPr>
              <a:t>Openness</a:t>
            </a:r>
            <a:endParaRPr dirty="0"/>
          </a:p>
          <a:p>
            <a:pPr marL="285750" marR="0" lvl="0" indent="-285750" algn="l" rtl="0">
              <a:lnSpc>
                <a:spcPct val="107000"/>
              </a:lnSpc>
              <a:spcBef>
                <a:spcPts val="400"/>
              </a:spcBef>
              <a:spcAft>
                <a:spcPts val="0"/>
              </a:spcAft>
              <a:buFont typeface="Wingdings" pitchFamily="2" charset="2"/>
              <a:buChar char="q"/>
            </a:pPr>
            <a:r>
              <a:rPr lang="en-US" sz="1800" b="0" i="0" u="none" strike="noStrike" cap="none" dirty="0">
                <a:solidFill>
                  <a:schemeClr val="lt1"/>
                </a:solidFill>
                <a:latin typeface="Gill Sans"/>
                <a:ea typeface="Gill Sans"/>
                <a:cs typeface="Gill Sans"/>
                <a:sym typeface="Gill Sans"/>
              </a:rPr>
              <a:t>Social Responsibility</a:t>
            </a:r>
            <a:endParaRPr dirty="0"/>
          </a:p>
          <a:p>
            <a:pPr marL="285750" marR="0" lvl="0" indent="-285750" algn="l" rtl="0">
              <a:lnSpc>
                <a:spcPct val="107000"/>
              </a:lnSpc>
              <a:spcBef>
                <a:spcPts val="400"/>
              </a:spcBef>
              <a:spcAft>
                <a:spcPts val="0"/>
              </a:spcAft>
              <a:buFont typeface="Wingdings" pitchFamily="2" charset="2"/>
              <a:buChar char="q"/>
            </a:pPr>
            <a:r>
              <a:rPr lang="en-US" sz="1800" b="0" i="0" u="none" strike="noStrike" cap="none" dirty="0">
                <a:solidFill>
                  <a:schemeClr val="lt1"/>
                </a:solidFill>
                <a:latin typeface="Gill Sans"/>
                <a:ea typeface="Gill Sans"/>
                <a:cs typeface="Gill Sans"/>
                <a:sym typeface="Gill Sans"/>
              </a:rPr>
              <a:t>Care for Others</a:t>
            </a:r>
            <a:endParaRPr dirty="0"/>
          </a:p>
        </p:txBody>
      </p:sp>
      <p:pic>
        <p:nvPicPr>
          <p:cNvPr id="9" name="Google Shape;552;p6" descr="7 Founding Values of Co-Ops - Slide 3">
            <a:extLst>
              <a:ext uri="{FF2B5EF4-FFF2-40B4-BE49-F238E27FC236}">
                <a16:creationId xmlns:a16="http://schemas.microsoft.com/office/drawing/2014/main" id="{D9ADA820-A9AB-9163-0570-1F27BF21E181}"/>
              </a:ext>
            </a:extLst>
          </p:cNvPr>
          <p:cNvPicPr preferRelativeResize="0"/>
          <p:nvPr/>
        </p:nvPicPr>
        <p:blipFill rotWithShape="1">
          <a:blip r:embed="rId4">
            <a:alphaModFix/>
          </a:blip>
          <a:srcRect/>
          <a:stretch/>
        </p:blipFill>
        <p:spPr>
          <a:xfrm>
            <a:off x="7181255" y="3318933"/>
            <a:ext cx="4381367" cy="3081866"/>
          </a:xfrm>
          <a:prstGeom prst="rect">
            <a:avLst/>
          </a:prstGeom>
          <a:noFill/>
          <a:ln>
            <a:noFill/>
          </a:ln>
        </p:spPr>
      </p:pic>
      <p:sp>
        <p:nvSpPr>
          <p:cNvPr id="10" name="Google Shape;549;p6">
            <a:extLst>
              <a:ext uri="{FF2B5EF4-FFF2-40B4-BE49-F238E27FC236}">
                <a16:creationId xmlns:a16="http://schemas.microsoft.com/office/drawing/2014/main" id="{AC0BC85E-CB4E-3634-3697-D88D8E9556FF}"/>
              </a:ext>
            </a:extLst>
          </p:cNvPr>
          <p:cNvSpPr txBox="1"/>
          <p:nvPr/>
        </p:nvSpPr>
        <p:spPr>
          <a:xfrm>
            <a:off x="781685" y="2847277"/>
            <a:ext cx="27797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Gill Sans"/>
                <a:ea typeface="Gill Sans"/>
                <a:cs typeface="Gill Sans"/>
                <a:sym typeface="Gill Sans"/>
              </a:rPr>
              <a:t>Fig.1: Traditional Values </a:t>
            </a:r>
            <a:endParaRPr sz="1400" b="0" i="0" u="none" strike="noStrike" cap="none" dirty="0">
              <a:solidFill>
                <a:srgbClr val="000000"/>
              </a:solidFill>
              <a:latin typeface="Gill Sans"/>
              <a:ea typeface="Gill Sans"/>
              <a:cs typeface="Gill Sans"/>
              <a:sym typeface="Gill Sans"/>
            </a:endParaRPr>
          </a:p>
        </p:txBody>
      </p:sp>
      <p:sp>
        <p:nvSpPr>
          <p:cNvPr id="11" name="Google Shape;551;p6">
            <a:extLst>
              <a:ext uri="{FF2B5EF4-FFF2-40B4-BE49-F238E27FC236}">
                <a16:creationId xmlns:a16="http://schemas.microsoft.com/office/drawing/2014/main" id="{9A2B8F03-E143-1465-954A-EFBD39C4BF69}"/>
              </a:ext>
            </a:extLst>
          </p:cNvPr>
          <p:cNvSpPr txBox="1"/>
          <p:nvPr/>
        </p:nvSpPr>
        <p:spPr>
          <a:xfrm>
            <a:off x="3977835" y="2886977"/>
            <a:ext cx="193447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Gill Sans"/>
                <a:ea typeface="Gill Sans"/>
                <a:cs typeface="Gill Sans"/>
                <a:sym typeface="Gill Sans"/>
              </a:rPr>
              <a:t>Fig.2: </a:t>
            </a:r>
            <a:r>
              <a:rPr lang="en-US" sz="1400" b="0" i="0" u="none" strike="noStrike" cap="none" dirty="0">
                <a:solidFill>
                  <a:srgbClr val="000000"/>
                </a:solidFill>
                <a:latin typeface="Figtree"/>
                <a:ea typeface="Figtree"/>
                <a:cs typeface="Figtree"/>
                <a:sym typeface="Figtree"/>
              </a:rPr>
              <a:t>Ethical values </a:t>
            </a:r>
            <a:endParaRPr sz="1400" b="0" i="0" u="none" strike="noStrike" cap="none" dirty="0">
              <a:solidFill>
                <a:srgbClr val="000000"/>
              </a:solidFill>
              <a:latin typeface="Arial"/>
              <a:ea typeface="Arial"/>
              <a:cs typeface="Arial"/>
              <a:sym typeface="Arial"/>
            </a:endParaRPr>
          </a:p>
        </p:txBody>
      </p:sp>
      <p:sp>
        <p:nvSpPr>
          <p:cNvPr id="12" name="Google Shape;553;p6">
            <a:extLst>
              <a:ext uri="{FF2B5EF4-FFF2-40B4-BE49-F238E27FC236}">
                <a16:creationId xmlns:a16="http://schemas.microsoft.com/office/drawing/2014/main" id="{6E2FC292-31C5-A247-4C30-43437748EF8B}"/>
              </a:ext>
            </a:extLst>
          </p:cNvPr>
          <p:cNvSpPr txBox="1"/>
          <p:nvPr/>
        </p:nvSpPr>
        <p:spPr>
          <a:xfrm>
            <a:off x="7140664" y="2849754"/>
            <a:ext cx="438136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Gill Sans"/>
                <a:ea typeface="Gill Sans"/>
                <a:cs typeface="Gill Sans"/>
                <a:sym typeface="Gill Sans"/>
              </a:rPr>
              <a:t>Fig.3: Universal Cooperative principles </a:t>
            </a:r>
            <a:endParaRPr sz="1400" b="0" i="0" u="none" strike="noStrike" cap="none" dirty="0">
              <a:solidFill>
                <a:srgbClr val="000000"/>
              </a:solidFill>
              <a:latin typeface="Gill Sans"/>
              <a:ea typeface="Gill Sans"/>
              <a:cs typeface="Gill Sans"/>
              <a:sym typeface="Gill Sans"/>
            </a:endParaRPr>
          </a:p>
        </p:txBody>
      </p:sp>
    </p:spTree>
    <p:extLst>
      <p:ext uri="{BB962C8B-B14F-4D97-AF65-F5344CB8AC3E}">
        <p14:creationId xmlns:p14="http://schemas.microsoft.com/office/powerpoint/2010/main" val="3269371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9DF3-52BB-451F-BEFC-3C10E28B9A6C}"/>
              </a:ext>
            </a:extLst>
          </p:cNvPr>
          <p:cNvSpPr>
            <a:spLocks noGrp="1"/>
          </p:cNvSpPr>
          <p:nvPr>
            <p:ph type="title"/>
          </p:nvPr>
        </p:nvSpPr>
        <p:spPr>
          <a:xfrm>
            <a:off x="558800" y="372322"/>
            <a:ext cx="11074400" cy="742800"/>
          </a:xfrm>
        </p:spPr>
        <p:txBody>
          <a:bodyPr>
            <a:normAutofit/>
          </a:bodyPr>
          <a:lstStyle/>
          <a:p>
            <a:pPr algn="just">
              <a:lnSpc>
                <a:spcPct val="115000"/>
              </a:lnSpc>
              <a:spcBef>
                <a:spcPts val="600"/>
              </a:spcBef>
              <a:spcAft>
                <a:spcPts val="600"/>
              </a:spcAft>
            </a:pPr>
            <a:r>
              <a:rPr lang="en-US" sz="3600" b="1" dirty="0">
                <a:solidFill>
                  <a:srgbClr val="006E57"/>
                </a:solidFill>
                <a:latin typeface="Gill Sans MT" panose="020B0502020104020203" pitchFamily="34" charset="77"/>
              </a:rPr>
              <a:t>Resilience Profiling &amp; Measurement</a:t>
            </a:r>
            <a:endParaRPr lang="en-UG" sz="3600" dirty="0">
              <a:effectLst/>
              <a:latin typeface="Gill Sans MT" panose="020B0502020104020203" pitchFamily="34" charset="77"/>
              <a:ea typeface="Book Antiqua" panose="02040602050305030304" pitchFamily="18" charset="0"/>
              <a:cs typeface="Book Antiqua" panose="02040602050305030304" pitchFamily="18" charset="0"/>
            </a:endParaRPr>
          </a:p>
        </p:txBody>
      </p:sp>
      <p:graphicFrame>
        <p:nvGraphicFramePr>
          <p:cNvPr id="5" name="Google Shape;563;p7">
            <a:extLst>
              <a:ext uri="{FF2B5EF4-FFF2-40B4-BE49-F238E27FC236}">
                <a16:creationId xmlns:a16="http://schemas.microsoft.com/office/drawing/2014/main" id="{811C47DA-3BF1-2AEF-C04D-A0631FD9F9DD}"/>
              </a:ext>
            </a:extLst>
          </p:cNvPr>
          <p:cNvGraphicFramePr/>
          <p:nvPr>
            <p:extLst>
              <p:ext uri="{D42A27DB-BD31-4B8C-83A1-F6EECF244321}">
                <p14:modId xmlns:p14="http://schemas.microsoft.com/office/powerpoint/2010/main" val="2119758905"/>
              </p:ext>
            </p:extLst>
          </p:nvPr>
        </p:nvGraphicFramePr>
        <p:xfrm>
          <a:off x="697240" y="1230867"/>
          <a:ext cx="5568093" cy="4956556"/>
        </p:xfrm>
        <a:graphic>
          <a:graphicData uri="http://schemas.openxmlformats.org/drawingml/2006/table">
            <a:tbl>
              <a:tblPr bandRow="1">
                <a:noFill/>
              </a:tblPr>
              <a:tblGrid>
                <a:gridCol w="1572752">
                  <a:extLst>
                    <a:ext uri="{9D8B030D-6E8A-4147-A177-3AD203B41FA5}">
                      <a16:colId xmlns:a16="http://schemas.microsoft.com/office/drawing/2014/main" val="20000"/>
                    </a:ext>
                  </a:extLst>
                </a:gridCol>
                <a:gridCol w="1167072">
                  <a:extLst>
                    <a:ext uri="{9D8B030D-6E8A-4147-A177-3AD203B41FA5}">
                      <a16:colId xmlns:a16="http://schemas.microsoft.com/office/drawing/2014/main" val="20001"/>
                    </a:ext>
                  </a:extLst>
                </a:gridCol>
                <a:gridCol w="2828269">
                  <a:extLst>
                    <a:ext uri="{9D8B030D-6E8A-4147-A177-3AD203B41FA5}">
                      <a16:colId xmlns:a16="http://schemas.microsoft.com/office/drawing/2014/main" val="20002"/>
                    </a:ext>
                  </a:extLst>
                </a:gridCol>
              </a:tblGrid>
              <a:tr h="190500">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Traditional Values 0.5 (50%)</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Ethical Values 0.2 (20%)</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Principles 0.3 (30%)</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0"/>
                  </a:ext>
                </a:extLst>
              </a:tr>
              <a:tr h="190500">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Self- responsibility 0.1 (10%)</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Honesty 0.07 (7%)</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Open and Voluntary Membership 0.042 (4.2%)</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1"/>
                  </a:ext>
                </a:extLst>
              </a:tr>
              <a:tr h="294650">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Self-help 0.1 (10%)</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Openness 0.04 (4%)</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Member Democratic Control 0.054 (5.4%)</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2"/>
                  </a:ext>
                </a:extLst>
              </a:tr>
              <a:tr h="190500">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Equity 0.07 (7%)</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Social Responsibility 0.06 (6%)</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Member Economic Participation 0.042 (4.2%)</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3"/>
                  </a:ext>
                </a:extLst>
              </a:tr>
              <a:tr h="190500">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Equality 0.07 (7%)</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Caring for Others 0.03 (3%)</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Autonomy and Independence 0.036 (3.6%)</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4"/>
                  </a:ext>
                </a:extLst>
              </a:tr>
              <a:tr h="190500">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Solidarity 0.09 (9%)</a:t>
                      </a:r>
                      <a:endParaRPr sz="1600" u="none" strike="noStrike" cap="none">
                        <a:latin typeface="Gill Sans"/>
                        <a:ea typeface="Gill Sans"/>
                        <a:cs typeface="Gill Sans"/>
                        <a:sym typeface="Gill Sans"/>
                      </a:endParaRPr>
                    </a:p>
                  </a:txBody>
                  <a:tcPr marL="68575" marR="68575" marT="0" marB="0"/>
                </a:tc>
                <a:tc rowSpan="3">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 </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Training, Education and Information 0.054 (5.4%)</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5"/>
                  </a:ext>
                </a:extLst>
              </a:tr>
              <a:tr h="190500">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Democracy 0.07 (7%)</a:t>
                      </a:r>
                      <a:endParaRPr sz="1600" u="none" strike="noStrike" cap="none" dirty="0">
                        <a:latin typeface="Gill Sans"/>
                        <a:ea typeface="Gill Sans"/>
                        <a:cs typeface="Gill Sans"/>
                        <a:sym typeface="Gill Sans"/>
                      </a:endParaRPr>
                    </a:p>
                  </a:txBody>
                  <a:tcPr marL="68575" marR="68575" marT="0" marB="0"/>
                </a:tc>
                <a:tc vMerge="1">
                  <a:txBody>
                    <a:bodyPr/>
                    <a:lstStyle/>
                    <a:p>
                      <a:endParaRPr lang="en-UG"/>
                    </a:p>
                  </a:txBody>
                  <a:tcPr/>
                </a:tc>
                <a:tc>
                  <a:txBody>
                    <a:bodyPr/>
                    <a:lstStyle/>
                    <a:p>
                      <a:pPr marL="0" marR="0" lvl="0" indent="0" algn="l" rtl="0">
                        <a:lnSpc>
                          <a:spcPct val="104000"/>
                        </a:lnSpc>
                        <a:spcBef>
                          <a:spcPts val="0"/>
                        </a:spcBef>
                        <a:spcAft>
                          <a:spcPts val="0"/>
                        </a:spcAft>
                        <a:buNone/>
                      </a:pPr>
                      <a:r>
                        <a:rPr lang="en-US" sz="1600" u="none" strike="noStrike" cap="none">
                          <a:latin typeface="Gill Sans"/>
                          <a:ea typeface="Gill Sans"/>
                          <a:cs typeface="Gill Sans"/>
                          <a:sym typeface="Gill Sans"/>
                        </a:rPr>
                        <a:t>Cooperation among Cooperatives 0.036 (3.6%)</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6"/>
                  </a:ext>
                </a:extLst>
              </a:tr>
              <a:tr h="190500">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 </a:t>
                      </a:r>
                      <a:endParaRPr sz="1600" u="none" strike="noStrike" cap="none" dirty="0">
                        <a:latin typeface="Gill Sans"/>
                        <a:ea typeface="Gill Sans"/>
                        <a:cs typeface="Gill Sans"/>
                        <a:sym typeface="Gill Sans"/>
                      </a:endParaRPr>
                    </a:p>
                  </a:txBody>
                  <a:tcPr marL="68575" marR="68575" marT="0" marB="0"/>
                </a:tc>
                <a:tc vMerge="1">
                  <a:txBody>
                    <a:bodyPr/>
                    <a:lstStyle/>
                    <a:p>
                      <a:endParaRPr lang="en-UG"/>
                    </a:p>
                  </a:txBody>
                  <a:tcPr/>
                </a:tc>
                <a:tc>
                  <a:txBody>
                    <a:bodyPr/>
                    <a:lstStyle/>
                    <a:p>
                      <a:pPr marL="0" marR="0" lvl="0" indent="0" algn="l" rtl="0">
                        <a:lnSpc>
                          <a:spcPct val="104000"/>
                        </a:lnSpc>
                        <a:spcBef>
                          <a:spcPts val="0"/>
                        </a:spcBef>
                        <a:spcAft>
                          <a:spcPts val="0"/>
                        </a:spcAft>
                        <a:buNone/>
                      </a:pPr>
                      <a:r>
                        <a:rPr lang="en-US" sz="1600" u="none" strike="noStrike" cap="none" dirty="0">
                          <a:latin typeface="Gill Sans"/>
                          <a:ea typeface="Gill Sans"/>
                          <a:cs typeface="Gill Sans"/>
                          <a:sym typeface="Gill Sans"/>
                        </a:rPr>
                        <a:t>Concern for Community 0.036 (3.6%)</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7"/>
                  </a:ext>
                </a:extLst>
              </a:tr>
            </a:tbl>
          </a:graphicData>
        </a:graphic>
      </p:graphicFrame>
      <p:graphicFrame>
        <p:nvGraphicFramePr>
          <p:cNvPr id="10" name="Table 9">
            <a:extLst>
              <a:ext uri="{FF2B5EF4-FFF2-40B4-BE49-F238E27FC236}">
                <a16:creationId xmlns:a16="http://schemas.microsoft.com/office/drawing/2014/main" id="{7488B06A-3044-D725-82F2-BACBBD026154}"/>
              </a:ext>
            </a:extLst>
          </p:cNvPr>
          <p:cNvGraphicFramePr>
            <a:graphicFrameLocks noGrp="1"/>
          </p:cNvGraphicFramePr>
          <p:nvPr>
            <p:extLst>
              <p:ext uri="{D42A27DB-BD31-4B8C-83A1-F6EECF244321}">
                <p14:modId xmlns:p14="http://schemas.microsoft.com/office/powerpoint/2010/main" val="2474747562"/>
              </p:ext>
            </p:extLst>
          </p:nvPr>
        </p:nvGraphicFramePr>
        <p:xfrm>
          <a:off x="6756400" y="1049665"/>
          <a:ext cx="4876800" cy="5137758"/>
        </p:xfrm>
        <a:graphic>
          <a:graphicData uri="http://schemas.openxmlformats.org/drawingml/2006/table">
            <a:tbl>
              <a:tblPr firstRow="1" bandRow="1">
                <a:tableStyleId>{68D230F3-CF80-4859-8CE7-A43EE81993B5}</a:tableStyleId>
              </a:tblPr>
              <a:tblGrid>
                <a:gridCol w="1668781">
                  <a:extLst>
                    <a:ext uri="{9D8B030D-6E8A-4147-A177-3AD203B41FA5}">
                      <a16:colId xmlns:a16="http://schemas.microsoft.com/office/drawing/2014/main" val="2476853673"/>
                    </a:ext>
                  </a:extLst>
                </a:gridCol>
                <a:gridCol w="1584959">
                  <a:extLst>
                    <a:ext uri="{9D8B030D-6E8A-4147-A177-3AD203B41FA5}">
                      <a16:colId xmlns:a16="http://schemas.microsoft.com/office/drawing/2014/main" val="630268858"/>
                    </a:ext>
                  </a:extLst>
                </a:gridCol>
                <a:gridCol w="1623060">
                  <a:extLst>
                    <a:ext uri="{9D8B030D-6E8A-4147-A177-3AD203B41FA5}">
                      <a16:colId xmlns:a16="http://schemas.microsoft.com/office/drawing/2014/main" val="171411011"/>
                    </a:ext>
                  </a:extLst>
                </a:gridCol>
              </a:tblGrid>
              <a:tr h="536253">
                <a:tc gridSpan="3">
                  <a:txBody>
                    <a:bodyPr/>
                    <a:lstStyle/>
                    <a:p>
                      <a:pPr algn="ctr"/>
                      <a:r>
                        <a:rPr lang="en-UG" sz="1800" b="1" dirty="0">
                          <a:latin typeface="Gill Sans MT" panose="020B0502020104020203" pitchFamily="34" charset="77"/>
                        </a:rPr>
                        <a:t>PERFORMANCE RATINGS  </a:t>
                      </a:r>
                    </a:p>
                  </a:txBody>
                  <a:tcPr/>
                </a:tc>
                <a:tc hMerge="1">
                  <a:txBody>
                    <a:bodyPr/>
                    <a:lstStyle/>
                    <a:p>
                      <a:endParaRPr lang="en-UG" dirty="0">
                        <a:latin typeface="Gill Sans MT" panose="020B0502020104020203" pitchFamily="34" charset="77"/>
                      </a:endParaRPr>
                    </a:p>
                  </a:txBody>
                  <a:tcPr/>
                </a:tc>
                <a:tc hMerge="1">
                  <a:txBody>
                    <a:bodyPr/>
                    <a:lstStyle/>
                    <a:p>
                      <a:pPr algn="ctr"/>
                      <a:endParaRPr lang="en-UG" sz="2800" dirty="0">
                        <a:latin typeface="Gill Sans MT" panose="020B0502020104020203" pitchFamily="34" charset="77"/>
                      </a:endParaRPr>
                    </a:p>
                  </a:txBody>
                  <a:tcPr/>
                </a:tc>
                <a:extLst>
                  <a:ext uri="{0D108BD9-81ED-4DB2-BD59-A6C34878D82A}">
                    <a16:rowId xmlns:a16="http://schemas.microsoft.com/office/drawing/2014/main" val="4090141106"/>
                  </a:ext>
                </a:extLst>
              </a:tr>
              <a:tr h="536253">
                <a:tc>
                  <a:txBody>
                    <a:bodyPr/>
                    <a:lstStyle/>
                    <a:p>
                      <a:r>
                        <a:rPr lang="en-GB" sz="1800" b="0" dirty="0">
                          <a:latin typeface="Gill Sans MT" panose="020B0502020104020203" pitchFamily="34" charset="77"/>
                        </a:rPr>
                        <a:t>R</a:t>
                      </a:r>
                      <a:r>
                        <a:rPr lang="en-UG" sz="1800" b="0" dirty="0">
                          <a:latin typeface="Gill Sans MT" panose="020B0502020104020203" pitchFamily="34" charset="77"/>
                        </a:rPr>
                        <a:t>esilience Scores </a:t>
                      </a:r>
                    </a:p>
                  </a:txBody>
                  <a:tcPr/>
                </a:tc>
                <a:tc>
                  <a:txBody>
                    <a:bodyPr/>
                    <a:lstStyle/>
                    <a:p>
                      <a:r>
                        <a:rPr lang="en-UG" sz="1800" b="0" dirty="0">
                          <a:latin typeface="Gill Sans MT" panose="020B0502020104020203" pitchFamily="34" charset="77"/>
                        </a:rPr>
                        <a:t>Resilience Grading </a:t>
                      </a:r>
                    </a:p>
                  </a:txBody>
                  <a:tcPr/>
                </a:tc>
                <a:tc>
                  <a:txBody>
                    <a:bodyPr/>
                    <a:lstStyle/>
                    <a:p>
                      <a:r>
                        <a:rPr lang="en-UG" sz="1800" b="0" dirty="0">
                          <a:latin typeface="Gill Sans MT" panose="020B0502020104020203" pitchFamily="34" charset="77"/>
                        </a:rPr>
                        <a:t>Resilience Levels </a:t>
                      </a:r>
                    </a:p>
                  </a:txBody>
                  <a:tcPr/>
                </a:tc>
                <a:extLst>
                  <a:ext uri="{0D108BD9-81ED-4DB2-BD59-A6C34878D82A}">
                    <a16:rowId xmlns:a16="http://schemas.microsoft.com/office/drawing/2014/main" val="4188626623"/>
                  </a:ext>
                </a:extLst>
              </a:tr>
              <a:tr h="536253">
                <a:tc>
                  <a:txBody>
                    <a:bodyPr/>
                    <a:lstStyle/>
                    <a:p>
                      <a:r>
                        <a:rPr lang="en-UG" sz="1800" b="0" dirty="0">
                          <a:latin typeface="Gill Sans MT" panose="020B0502020104020203" pitchFamily="34" charset="77"/>
                        </a:rPr>
                        <a:t>90-100%</a:t>
                      </a:r>
                    </a:p>
                  </a:txBody>
                  <a:tcPr/>
                </a:tc>
                <a:tc>
                  <a:txBody>
                    <a:bodyPr/>
                    <a:lstStyle/>
                    <a:p>
                      <a:r>
                        <a:rPr lang="en-UG" sz="1800" b="0" dirty="0">
                          <a:latin typeface="Gill Sans MT" panose="020B0502020104020203" pitchFamily="34" charset="77"/>
                        </a:rPr>
                        <a:t>A+ </a:t>
                      </a:r>
                    </a:p>
                  </a:txBody>
                  <a:tcPr/>
                </a:tc>
                <a:tc>
                  <a:txBody>
                    <a:bodyPr/>
                    <a:lstStyle/>
                    <a:p>
                      <a:r>
                        <a:rPr lang="en-UG" sz="1800" b="0" dirty="0">
                          <a:latin typeface="Gill Sans MT" panose="020B0502020104020203" pitchFamily="34" charset="77"/>
                        </a:rPr>
                        <a:t>Ultra Resilient</a:t>
                      </a:r>
                    </a:p>
                  </a:txBody>
                  <a:tcPr/>
                </a:tc>
                <a:extLst>
                  <a:ext uri="{0D108BD9-81ED-4DB2-BD59-A6C34878D82A}">
                    <a16:rowId xmlns:a16="http://schemas.microsoft.com/office/drawing/2014/main" val="3937506150"/>
                  </a:ext>
                </a:extLst>
              </a:tr>
              <a:tr h="536253">
                <a:tc>
                  <a:txBody>
                    <a:bodyPr/>
                    <a:lstStyle/>
                    <a:p>
                      <a:r>
                        <a:rPr lang="en-UG" sz="1800" b="0" dirty="0">
                          <a:latin typeface="Gill Sans MT" panose="020B0502020104020203" pitchFamily="34" charset="77"/>
                        </a:rPr>
                        <a:t>80-89%</a:t>
                      </a:r>
                    </a:p>
                  </a:txBody>
                  <a:tcPr/>
                </a:tc>
                <a:tc>
                  <a:txBody>
                    <a:bodyPr/>
                    <a:lstStyle/>
                    <a:p>
                      <a:r>
                        <a:rPr lang="en-UG" sz="1800" b="0" dirty="0">
                          <a:latin typeface="Gill Sans MT" panose="020B0502020104020203" pitchFamily="34" charset="77"/>
                        </a:rPr>
                        <a:t>A- </a:t>
                      </a:r>
                    </a:p>
                  </a:txBody>
                  <a:tcPr/>
                </a:tc>
                <a:tc>
                  <a:txBody>
                    <a:bodyPr/>
                    <a:lstStyle/>
                    <a:p>
                      <a:r>
                        <a:rPr lang="en-GB" sz="1800" b="0" dirty="0">
                          <a:latin typeface="Gill Sans MT" panose="020B0502020104020203" pitchFamily="34" charset="77"/>
                        </a:rPr>
                        <a:t>V</a:t>
                      </a:r>
                      <a:r>
                        <a:rPr lang="en-UG" sz="1800" b="0" dirty="0">
                          <a:latin typeface="Gill Sans MT" panose="020B0502020104020203" pitchFamily="34" charset="77"/>
                        </a:rPr>
                        <a:t>ery Resilient</a:t>
                      </a:r>
                    </a:p>
                  </a:txBody>
                  <a:tcPr/>
                </a:tc>
                <a:extLst>
                  <a:ext uri="{0D108BD9-81ED-4DB2-BD59-A6C34878D82A}">
                    <a16:rowId xmlns:a16="http://schemas.microsoft.com/office/drawing/2014/main" val="1988743884"/>
                  </a:ext>
                </a:extLst>
              </a:tr>
              <a:tr h="536253">
                <a:tc>
                  <a:txBody>
                    <a:bodyPr/>
                    <a:lstStyle/>
                    <a:p>
                      <a:r>
                        <a:rPr lang="en-UG" sz="1800" b="0" dirty="0">
                          <a:latin typeface="Gill Sans MT" panose="020B0502020104020203" pitchFamily="34" charset="77"/>
                        </a:rPr>
                        <a:t>70-79%</a:t>
                      </a:r>
                    </a:p>
                  </a:txBody>
                  <a:tcPr/>
                </a:tc>
                <a:tc>
                  <a:txBody>
                    <a:bodyPr/>
                    <a:lstStyle/>
                    <a:p>
                      <a:r>
                        <a:rPr lang="en-UG" sz="1800" b="0" dirty="0">
                          <a:latin typeface="Gill Sans MT" panose="020B0502020104020203" pitchFamily="34" charset="77"/>
                        </a:rPr>
                        <a:t>B+ </a:t>
                      </a:r>
                    </a:p>
                  </a:txBody>
                  <a:tcPr/>
                </a:tc>
                <a:tc>
                  <a:txBody>
                    <a:bodyPr/>
                    <a:lstStyle/>
                    <a:p>
                      <a:r>
                        <a:rPr lang="en-UG" sz="1800" b="0" dirty="0">
                          <a:latin typeface="Gill Sans MT" panose="020B0502020104020203" pitchFamily="34" charset="77"/>
                        </a:rPr>
                        <a:t>Resilient</a:t>
                      </a:r>
                    </a:p>
                  </a:txBody>
                  <a:tcPr/>
                </a:tc>
                <a:extLst>
                  <a:ext uri="{0D108BD9-81ED-4DB2-BD59-A6C34878D82A}">
                    <a16:rowId xmlns:a16="http://schemas.microsoft.com/office/drawing/2014/main" val="3328934561"/>
                  </a:ext>
                </a:extLst>
              </a:tr>
              <a:tr h="536253">
                <a:tc>
                  <a:txBody>
                    <a:bodyPr/>
                    <a:lstStyle/>
                    <a:p>
                      <a:r>
                        <a:rPr lang="en-UG" sz="1800" b="0" dirty="0">
                          <a:latin typeface="Gill Sans MT" panose="020B0502020104020203" pitchFamily="34" charset="77"/>
                        </a:rPr>
                        <a:t>60-69%</a:t>
                      </a:r>
                    </a:p>
                  </a:txBody>
                  <a:tcPr/>
                </a:tc>
                <a:tc>
                  <a:txBody>
                    <a:bodyPr/>
                    <a:lstStyle/>
                    <a:p>
                      <a:r>
                        <a:rPr lang="en-UG" sz="1800" b="0" dirty="0">
                          <a:latin typeface="Gill Sans MT" panose="020B0502020104020203" pitchFamily="34" charset="77"/>
                        </a:rPr>
                        <a:t>B- </a:t>
                      </a:r>
                    </a:p>
                  </a:txBody>
                  <a:tcPr/>
                </a:tc>
                <a:tc>
                  <a:txBody>
                    <a:bodyPr/>
                    <a:lstStyle/>
                    <a:p>
                      <a:r>
                        <a:rPr lang="en-UG" sz="1800" b="0" dirty="0">
                          <a:latin typeface="Gill Sans MT" panose="020B0502020104020203" pitchFamily="34" charset="77"/>
                        </a:rPr>
                        <a:t>Moderately Resilient</a:t>
                      </a:r>
                    </a:p>
                  </a:txBody>
                  <a:tcPr/>
                </a:tc>
                <a:extLst>
                  <a:ext uri="{0D108BD9-81ED-4DB2-BD59-A6C34878D82A}">
                    <a16:rowId xmlns:a16="http://schemas.microsoft.com/office/drawing/2014/main" val="774623373"/>
                  </a:ext>
                </a:extLst>
              </a:tr>
              <a:tr h="536253">
                <a:tc>
                  <a:txBody>
                    <a:bodyPr/>
                    <a:lstStyle/>
                    <a:p>
                      <a:r>
                        <a:rPr lang="en-UG" sz="1800" b="0" dirty="0">
                          <a:latin typeface="Gill Sans MT" panose="020B0502020104020203" pitchFamily="34" charset="77"/>
                        </a:rPr>
                        <a:t>50-59%</a:t>
                      </a:r>
                    </a:p>
                  </a:txBody>
                  <a:tcPr/>
                </a:tc>
                <a:tc>
                  <a:txBody>
                    <a:bodyPr/>
                    <a:lstStyle/>
                    <a:p>
                      <a:r>
                        <a:rPr lang="en-UG" sz="1800" b="0" dirty="0">
                          <a:latin typeface="Gill Sans MT" panose="020B0502020104020203" pitchFamily="34" charset="77"/>
                        </a:rPr>
                        <a:t>C+</a:t>
                      </a:r>
                    </a:p>
                  </a:txBody>
                  <a:tcPr/>
                </a:tc>
                <a:tc>
                  <a:txBody>
                    <a:bodyPr/>
                    <a:lstStyle/>
                    <a:p>
                      <a:r>
                        <a:rPr lang="en-UG" sz="1800" b="0" dirty="0">
                          <a:latin typeface="Gill Sans MT" panose="020B0502020104020203" pitchFamily="34" charset="77"/>
                        </a:rPr>
                        <a:t>Mildly Resilient</a:t>
                      </a:r>
                    </a:p>
                  </a:txBody>
                  <a:tcPr/>
                </a:tc>
                <a:extLst>
                  <a:ext uri="{0D108BD9-81ED-4DB2-BD59-A6C34878D82A}">
                    <a16:rowId xmlns:a16="http://schemas.microsoft.com/office/drawing/2014/main" val="3261290439"/>
                  </a:ext>
                </a:extLst>
              </a:tr>
              <a:tr h="536253">
                <a:tc>
                  <a:txBody>
                    <a:bodyPr/>
                    <a:lstStyle/>
                    <a:p>
                      <a:r>
                        <a:rPr lang="en-UG" sz="1800" b="0" dirty="0">
                          <a:latin typeface="Gill Sans MT" panose="020B0502020104020203" pitchFamily="34" charset="77"/>
                        </a:rPr>
                        <a:t>40-49%</a:t>
                      </a:r>
                    </a:p>
                  </a:txBody>
                  <a:tcPr/>
                </a:tc>
                <a:tc>
                  <a:txBody>
                    <a:bodyPr/>
                    <a:lstStyle/>
                    <a:p>
                      <a:r>
                        <a:rPr lang="en-UG" sz="1800" b="0" dirty="0">
                          <a:latin typeface="Gill Sans MT" panose="020B0502020104020203" pitchFamily="34" charset="77"/>
                        </a:rPr>
                        <a:t>C</a:t>
                      </a:r>
                    </a:p>
                  </a:txBody>
                  <a:tcPr/>
                </a:tc>
                <a:tc>
                  <a:txBody>
                    <a:bodyPr/>
                    <a:lstStyle/>
                    <a:p>
                      <a:r>
                        <a:rPr lang="en-UG" sz="1800" b="0" dirty="0">
                          <a:latin typeface="Gill Sans MT" panose="020B0502020104020203" pitchFamily="34" charset="77"/>
                        </a:rPr>
                        <a:t>Low Resilience</a:t>
                      </a:r>
                    </a:p>
                  </a:txBody>
                  <a:tcPr/>
                </a:tc>
                <a:extLst>
                  <a:ext uri="{0D108BD9-81ED-4DB2-BD59-A6C34878D82A}">
                    <a16:rowId xmlns:a16="http://schemas.microsoft.com/office/drawing/2014/main" val="3802636541"/>
                  </a:ext>
                </a:extLst>
              </a:tr>
              <a:tr h="536253">
                <a:tc>
                  <a:txBody>
                    <a:bodyPr/>
                    <a:lstStyle/>
                    <a:p>
                      <a:r>
                        <a:rPr lang="en-UG" sz="1800" b="0" dirty="0">
                          <a:latin typeface="Gill Sans MT" panose="020B0502020104020203" pitchFamily="34" charset="77"/>
                        </a:rPr>
                        <a:t>&lt; 40%</a:t>
                      </a:r>
                    </a:p>
                  </a:txBody>
                  <a:tcPr/>
                </a:tc>
                <a:tc>
                  <a:txBody>
                    <a:bodyPr/>
                    <a:lstStyle/>
                    <a:p>
                      <a:r>
                        <a:rPr lang="en-UG" sz="1800" b="0" dirty="0">
                          <a:latin typeface="Gill Sans MT" panose="020B0502020104020203" pitchFamily="34" charset="77"/>
                        </a:rPr>
                        <a:t>D</a:t>
                      </a:r>
                    </a:p>
                  </a:txBody>
                  <a:tcPr/>
                </a:tc>
                <a:tc>
                  <a:txBody>
                    <a:bodyPr/>
                    <a:lstStyle/>
                    <a:p>
                      <a:r>
                        <a:rPr lang="en-UG" sz="1800" b="0" dirty="0">
                          <a:latin typeface="Gill Sans MT" panose="020B0502020104020203" pitchFamily="34" charset="77"/>
                        </a:rPr>
                        <a:t>Very Low resilience</a:t>
                      </a:r>
                    </a:p>
                  </a:txBody>
                  <a:tcPr/>
                </a:tc>
                <a:extLst>
                  <a:ext uri="{0D108BD9-81ED-4DB2-BD59-A6C34878D82A}">
                    <a16:rowId xmlns:a16="http://schemas.microsoft.com/office/drawing/2014/main" val="1862013080"/>
                  </a:ext>
                </a:extLst>
              </a:tr>
            </a:tbl>
          </a:graphicData>
        </a:graphic>
      </p:graphicFrame>
    </p:spTree>
    <p:extLst>
      <p:ext uri="{BB962C8B-B14F-4D97-AF65-F5344CB8AC3E}">
        <p14:creationId xmlns:p14="http://schemas.microsoft.com/office/powerpoint/2010/main" val="1614663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9DF3-52BB-451F-BEFC-3C10E28B9A6C}"/>
              </a:ext>
            </a:extLst>
          </p:cNvPr>
          <p:cNvSpPr>
            <a:spLocks noGrp="1"/>
          </p:cNvSpPr>
          <p:nvPr>
            <p:ph type="title"/>
          </p:nvPr>
        </p:nvSpPr>
        <p:spPr>
          <a:xfrm>
            <a:off x="383083" y="396150"/>
            <a:ext cx="11263971" cy="631140"/>
          </a:xfrm>
        </p:spPr>
        <p:txBody>
          <a:bodyPr>
            <a:normAutofit fontScale="90000"/>
          </a:bodyPr>
          <a:lstStyle/>
          <a:p>
            <a:br>
              <a:rPr lang="en-US" sz="4400" b="1" dirty="0">
                <a:solidFill>
                  <a:srgbClr val="006E57"/>
                </a:solidFill>
                <a:latin typeface="Gill Sans MT" panose="020B0502020104020203" pitchFamily="34" charset="77"/>
              </a:rPr>
            </a:br>
            <a:r>
              <a:rPr lang="en-US" sz="4400" b="1" dirty="0">
                <a:solidFill>
                  <a:srgbClr val="006E57"/>
                </a:solidFill>
                <a:latin typeface="Gill Sans MT" panose="020B0502020104020203" pitchFamily="34" charset="77"/>
              </a:rPr>
              <a:t>Coop Profiler’s Value </a:t>
            </a:r>
            <a:r>
              <a:rPr lang="en-US" b="1" dirty="0">
                <a:solidFill>
                  <a:srgbClr val="006E57"/>
                </a:solidFill>
                <a:latin typeface="Gill Sans MT" panose="020B0502020104020203" pitchFamily="34" charset="77"/>
              </a:rPr>
              <a:t>P</a:t>
            </a:r>
            <a:r>
              <a:rPr lang="en-US" sz="4400" b="1" dirty="0">
                <a:solidFill>
                  <a:srgbClr val="006E57"/>
                </a:solidFill>
                <a:latin typeface="Gill Sans MT" panose="020B0502020104020203" pitchFamily="34" charset="77"/>
              </a:rPr>
              <a:t>roposition</a:t>
            </a:r>
            <a:br>
              <a:rPr lang="en-GB" sz="2800" dirty="0">
                <a:effectLst/>
                <a:latin typeface="Gill Sans MT" panose="020B0502020104020203" pitchFamily="34" charset="77"/>
                <a:ea typeface="Book Antiqua" panose="02040602050305030304" pitchFamily="18" charset="0"/>
                <a:cs typeface="Book Antiqua" panose="02040602050305030304" pitchFamily="18" charset="0"/>
              </a:rPr>
            </a:br>
            <a:endParaRPr lang="en-UG" dirty="0"/>
          </a:p>
        </p:txBody>
      </p:sp>
      <p:sp>
        <p:nvSpPr>
          <p:cNvPr id="3" name="Content Placeholder 2">
            <a:extLst>
              <a:ext uri="{FF2B5EF4-FFF2-40B4-BE49-F238E27FC236}">
                <a16:creationId xmlns:a16="http://schemas.microsoft.com/office/drawing/2014/main" id="{6A7F805D-F10A-4DFC-909F-FF0687EB69BA}"/>
              </a:ext>
            </a:extLst>
          </p:cNvPr>
          <p:cNvSpPr>
            <a:spLocks noGrp="1"/>
          </p:cNvSpPr>
          <p:nvPr>
            <p:ph idx="1"/>
          </p:nvPr>
        </p:nvSpPr>
        <p:spPr>
          <a:xfrm>
            <a:off x="477870" y="1194521"/>
            <a:ext cx="6647760" cy="5267330"/>
          </a:xfrm>
        </p:spPr>
        <p:txBody>
          <a:bodyPr>
            <a:normAutofit fontScale="92500" lnSpcReduction="10000"/>
          </a:bodyPr>
          <a:lstStyle/>
          <a:p>
            <a:pPr algn="just">
              <a:lnSpc>
                <a:spcPct val="115000"/>
              </a:lnSpc>
              <a:spcBef>
                <a:spcPts val="600"/>
              </a:spcBef>
              <a:spcAft>
                <a:spcPts val="600"/>
              </a:spcAft>
              <a:buFont typeface="Wingdings" pitchFamily="2" charset="2"/>
              <a:buChar char="v"/>
            </a:pPr>
            <a:r>
              <a:rPr lang="en-US" sz="1800" b="1" dirty="0">
                <a:solidFill>
                  <a:srgbClr val="006E57"/>
                </a:solidFill>
                <a:latin typeface="Gill Sans MT" panose="020B0502020104020203" pitchFamily="34" charset="77"/>
              </a:rPr>
              <a:t>Establishing standards and uniformity</a:t>
            </a:r>
            <a:r>
              <a:rPr lang="en-UG" sz="1800" b="1" u="none" strike="noStrike" dirty="0">
                <a:solidFill>
                  <a:srgbClr val="006E57"/>
                </a:solidFill>
                <a:effectLst/>
                <a:latin typeface="Gill Sans MT" panose="020B0502020104020203" pitchFamily="34" charset="77"/>
                <a:ea typeface="Roboto" panose="02000000000000000000" pitchFamily="2" charset="0"/>
                <a:cs typeface="Roboto" panose="02000000000000000000" pitchFamily="2" charset="0"/>
              </a:rPr>
              <a:t> in Holistic Data Aggregation, Measurement &amp; Reporting</a:t>
            </a:r>
            <a:endParaRPr lang="en-GB" sz="1800" b="1"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endParaRPr>
          </a:p>
          <a:p>
            <a:pPr marL="0" indent="0" algn="just">
              <a:lnSpc>
                <a:spcPct val="115000"/>
              </a:lnSpc>
              <a:spcBef>
                <a:spcPts val="600"/>
              </a:spcBef>
              <a:spcAft>
                <a:spcPts val="600"/>
              </a:spcAft>
              <a:buNone/>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Coop Profiler enables standardisation in the institutional and household data by members to align with the cooperative statistical guidelines (ILO) which encourages compliance and comparability within a functional and collaborative sector ecosystem.  </a:t>
            </a:r>
            <a:r>
              <a:rPr lang="en-GB" sz="1800" b="1" dirty="0">
                <a:effectLst/>
                <a:latin typeface="Gill Sans MT" panose="020B0502020104020203" pitchFamily="34" charset="77"/>
                <a:ea typeface="Book Antiqua" panose="02040602050305030304" pitchFamily="18" charset="0"/>
                <a:cs typeface="Book Antiqua" panose="02040602050305030304" pitchFamily="18" charset="0"/>
              </a:rPr>
              <a:t>The tool can for example enable the sector to know the regional performance of cooperatives based on the resilience index, at the same time enable the sector to understand what areas of capacity building and support may be </a:t>
            </a:r>
            <a:r>
              <a:rPr lang="en-GB" sz="1800" b="1" dirty="0">
                <a:latin typeface="Gill Sans MT" panose="020B0502020104020203" pitchFamily="34" charset="77"/>
                <a:ea typeface="Book Antiqua" panose="02040602050305030304" pitchFamily="18" charset="0"/>
                <a:cs typeface="Book Antiqua" panose="02040602050305030304" pitchFamily="18" charset="0"/>
              </a:rPr>
              <a:t>p</a:t>
            </a:r>
            <a:r>
              <a:rPr lang="en-GB" sz="1800" b="1" dirty="0">
                <a:effectLst/>
                <a:latin typeface="Gill Sans MT" panose="020B0502020104020203" pitchFamily="34" charset="77"/>
                <a:ea typeface="Book Antiqua" panose="02040602050305030304" pitchFamily="18" charset="0"/>
                <a:cs typeface="Book Antiqua" panose="02040602050305030304" pitchFamily="18" charset="0"/>
              </a:rPr>
              <a:t>riority need of cooperatives by region to bolster their stability and growth.</a:t>
            </a:r>
            <a:endParaRPr lang="en-UG" sz="1800" dirty="0">
              <a:effectLst/>
              <a:latin typeface="Gill Sans MT" panose="020B0502020104020203" pitchFamily="34" charset="77"/>
              <a:ea typeface="Book Antiqua" panose="02040602050305030304" pitchFamily="18" charset="0"/>
              <a:cs typeface="Book Antiqua" panose="02040602050305030304" pitchFamily="18" charset="0"/>
            </a:endParaRPr>
          </a:p>
          <a:p>
            <a:pPr algn="just">
              <a:lnSpc>
                <a:spcPct val="115000"/>
              </a:lnSpc>
              <a:spcBef>
                <a:spcPts val="600"/>
              </a:spcBef>
              <a:spcAft>
                <a:spcPts val="600"/>
              </a:spcAft>
              <a:buFont typeface="Wingdings" pitchFamily="2" charset="2"/>
              <a:buChar char="v"/>
            </a:pPr>
            <a:r>
              <a:rPr lang="en-GB" sz="1800" b="1"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Coop Profiler is API enabled to promote collaboration, comparability, compliance monitoring and efficient regulation of cooperatives</a:t>
            </a:r>
            <a:r>
              <a:rPr lang="en-UG" sz="1800" b="1" dirty="0">
                <a:solidFill>
                  <a:srgbClr val="006E57"/>
                </a:solidFill>
                <a:latin typeface="Gill Sans MT" panose="020B0502020104020203" pitchFamily="34" charset="77"/>
                <a:ea typeface="Book Antiqua" panose="02040602050305030304" pitchFamily="18" charset="0"/>
                <a:cs typeface="Book Antiqua" panose="02040602050305030304" pitchFamily="18" charset="0"/>
              </a:rPr>
              <a:t>.</a:t>
            </a:r>
          </a:p>
          <a:p>
            <a:pPr marL="0" indent="0" algn="just">
              <a:lnSpc>
                <a:spcPct val="115000"/>
              </a:lnSpc>
              <a:spcBef>
                <a:spcPts val="600"/>
              </a:spcBef>
              <a:spcAft>
                <a:spcPts val="600"/>
              </a:spcAft>
              <a:buNone/>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Through the API functionality, cooperatives, and partners can link Coop </a:t>
            </a:r>
            <a:r>
              <a:rPr lang="en-GB" sz="1800" dirty="0">
                <a:latin typeface="Gill Sans MT" panose="020B0502020104020203" pitchFamily="34" charset="77"/>
                <a:ea typeface="Book Antiqua" panose="02040602050305030304" pitchFamily="18" charset="0"/>
                <a:cs typeface="Book Antiqua" panose="02040602050305030304" pitchFamily="18" charset="0"/>
              </a:rPr>
              <a:t>P</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rofiler to existing software for data sharing which will reduce the resources for reinventing the wheel.</a:t>
            </a:r>
            <a:endParaRPr lang="en-UG" sz="1800" dirty="0">
              <a:effectLst/>
              <a:latin typeface="Gill Sans MT" panose="020B0502020104020203" pitchFamily="34" charset="77"/>
              <a:ea typeface="Book Antiqua" panose="02040602050305030304" pitchFamily="18" charset="0"/>
              <a:cs typeface="Book Antiqua" panose="02040602050305030304" pitchFamily="18" charset="0"/>
            </a:endParaRPr>
          </a:p>
        </p:txBody>
      </p:sp>
      <p:pic>
        <p:nvPicPr>
          <p:cNvPr id="4" name="Google Shape;868;p121">
            <a:extLst>
              <a:ext uri="{FF2B5EF4-FFF2-40B4-BE49-F238E27FC236}">
                <a16:creationId xmlns:a16="http://schemas.microsoft.com/office/drawing/2014/main" id="{27801417-837E-0F86-5BEF-EEBA6F167583}"/>
              </a:ext>
            </a:extLst>
          </p:cNvPr>
          <p:cNvPicPr preferRelativeResize="0"/>
          <p:nvPr/>
        </p:nvPicPr>
        <p:blipFill>
          <a:blip r:embed="rId3">
            <a:alphaModFix/>
          </a:blip>
          <a:stretch>
            <a:fillRect/>
          </a:stretch>
        </p:blipFill>
        <p:spPr>
          <a:xfrm>
            <a:off x="7304050" y="1293541"/>
            <a:ext cx="2402738" cy="4627757"/>
          </a:xfrm>
          <a:prstGeom prst="rect">
            <a:avLst/>
          </a:prstGeom>
          <a:noFill/>
          <a:ln>
            <a:noFill/>
          </a:ln>
        </p:spPr>
      </p:pic>
      <p:pic>
        <p:nvPicPr>
          <p:cNvPr id="5" name="Google Shape;869;p121">
            <a:extLst>
              <a:ext uri="{FF2B5EF4-FFF2-40B4-BE49-F238E27FC236}">
                <a16:creationId xmlns:a16="http://schemas.microsoft.com/office/drawing/2014/main" id="{6C073C81-16BA-9454-C6F8-655E23652B9B}"/>
              </a:ext>
            </a:extLst>
          </p:cNvPr>
          <p:cNvPicPr preferRelativeResize="0"/>
          <p:nvPr/>
        </p:nvPicPr>
        <p:blipFill>
          <a:blip r:embed="rId4">
            <a:alphaModFix/>
          </a:blip>
          <a:stretch>
            <a:fillRect/>
          </a:stretch>
        </p:blipFill>
        <p:spPr>
          <a:xfrm>
            <a:off x="9885208" y="1293542"/>
            <a:ext cx="2203050" cy="4627756"/>
          </a:xfrm>
          <a:prstGeom prst="rect">
            <a:avLst/>
          </a:prstGeom>
          <a:noFill/>
          <a:ln>
            <a:noFill/>
          </a:ln>
        </p:spPr>
      </p:pic>
    </p:spTree>
    <p:extLst>
      <p:ext uri="{BB962C8B-B14F-4D97-AF65-F5344CB8AC3E}">
        <p14:creationId xmlns:p14="http://schemas.microsoft.com/office/powerpoint/2010/main" val="3099630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grpSp>
        <p:nvGrpSpPr>
          <p:cNvPr id="699" name="Google Shape;699;p17"/>
          <p:cNvGrpSpPr/>
          <p:nvPr/>
        </p:nvGrpSpPr>
        <p:grpSpPr>
          <a:xfrm>
            <a:off x="-125" y="0"/>
            <a:ext cx="1009775" cy="158700"/>
            <a:chOff x="-125" y="0"/>
            <a:chExt cx="1009775" cy="158700"/>
          </a:xfrm>
        </p:grpSpPr>
        <p:sp>
          <p:nvSpPr>
            <p:cNvPr id="700" name="Google Shape;700;p17"/>
            <p:cNvSpPr/>
            <p:nvPr/>
          </p:nvSpPr>
          <p:spPr>
            <a:xfrm rot="5400000">
              <a:off x="275125" y="-275250"/>
              <a:ext cx="158700" cy="709200"/>
            </a:xfrm>
            <a:prstGeom prst="rect">
              <a:avLst/>
            </a:prstGeom>
            <a:solidFill>
              <a:srgbClr val="9800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Work Sans"/>
                <a:ea typeface="Work Sans"/>
                <a:cs typeface="Work Sans"/>
                <a:sym typeface="Work Sans"/>
              </a:endParaRPr>
            </a:p>
          </p:txBody>
        </p:sp>
        <p:sp>
          <p:nvSpPr>
            <p:cNvPr id="701" name="Google Shape;701;p17"/>
            <p:cNvSpPr/>
            <p:nvPr/>
          </p:nvSpPr>
          <p:spPr>
            <a:xfrm rot="5400000">
              <a:off x="768450" y="-82500"/>
              <a:ext cx="158700" cy="3237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Work Sans"/>
                <a:ea typeface="Work Sans"/>
                <a:cs typeface="Work Sans"/>
                <a:sym typeface="Work Sans"/>
              </a:endParaRPr>
            </a:p>
          </p:txBody>
        </p:sp>
      </p:grpSp>
      <p:sp>
        <p:nvSpPr>
          <p:cNvPr id="703" name="Google Shape;703;p17"/>
          <p:cNvSpPr txBox="1"/>
          <p:nvPr/>
        </p:nvSpPr>
        <p:spPr>
          <a:xfrm>
            <a:off x="3511980" y="1010787"/>
            <a:ext cx="3506834" cy="307736"/>
          </a:xfrm>
          <a:prstGeom prst="rect">
            <a:avLst/>
          </a:prstGeom>
          <a:noFill/>
          <a:ln>
            <a:noFill/>
          </a:ln>
        </p:spPr>
        <p:txBody>
          <a:bodyPr spcFirstLastPara="1" wrap="square" lIns="91425" tIns="45700" rIns="91425" bIns="45700" anchor="t" anchorCtr="0">
            <a:spAutoFit/>
          </a:bodyPr>
          <a:lstStyle/>
          <a:p>
            <a:pPr marL="114300" marR="0" lvl="0" indent="0" algn="just" rtl="0">
              <a:lnSpc>
                <a:spcPct val="100000"/>
              </a:lnSpc>
              <a:spcBef>
                <a:spcPts val="0"/>
              </a:spcBef>
              <a:spcAft>
                <a:spcPts val="0"/>
              </a:spcAft>
              <a:buClr>
                <a:srgbClr val="000000"/>
              </a:buClr>
              <a:buSzPts val="1600"/>
              <a:buFont typeface="Arial"/>
              <a:buNone/>
            </a:pPr>
            <a:r>
              <a:rPr lang="en-US" sz="1400" b="1" dirty="0">
                <a:solidFill>
                  <a:srgbClr val="000000"/>
                </a:solidFill>
                <a:latin typeface="Gill Sans"/>
                <a:ea typeface="Gill Sans"/>
                <a:cs typeface="Gill Sans"/>
                <a:sym typeface="Gill Sans"/>
              </a:rPr>
              <a:t>Member </a:t>
            </a:r>
            <a:r>
              <a:rPr lang="en-US" sz="1400" b="1" i="0" u="none" strike="noStrike" cap="none" dirty="0">
                <a:solidFill>
                  <a:srgbClr val="000000"/>
                </a:solidFill>
                <a:latin typeface="Gill Sans"/>
                <a:ea typeface="Gill Sans"/>
                <a:cs typeface="Gill Sans"/>
                <a:sym typeface="Gill Sans"/>
              </a:rPr>
              <a:t>Aspiration in 5 years</a:t>
            </a:r>
            <a:endParaRPr sz="1400" b="0" i="0" u="none" strike="noStrike" cap="none" dirty="0">
              <a:solidFill>
                <a:srgbClr val="000000"/>
              </a:solidFill>
              <a:latin typeface="Arial"/>
              <a:ea typeface="Arial"/>
              <a:cs typeface="Arial"/>
              <a:sym typeface="Arial"/>
            </a:endParaRPr>
          </a:p>
        </p:txBody>
      </p:sp>
      <p:graphicFrame>
        <p:nvGraphicFramePr>
          <p:cNvPr id="704" name="Google Shape;704;p17"/>
          <p:cNvGraphicFramePr/>
          <p:nvPr>
            <p:extLst>
              <p:ext uri="{D42A27DB-BD31-4B8C-83A1-F6EECF244321}">
                <p14:modId xmlns:p14="http://schemas.microsoft.com/office/powerpoint/2010/main" val="664719699"/>
              </p:ext>
            </p:extLst>
          </p:nvPr>
        </p:nvGraphicFramePr>
        <p:xfrm>
          <a:off x="3420533" y="1603071"/>
          <a:ext cx="3687457" cy="4238117"/>
        </p:xfrm>
        <a:graphic>
          <a:graphicData uri="http://schemas.openxmlformats.org/drawingml/2006/table">
            <a:tbl>
              <a:tblPr firstRow="1" firstCol="1" bandRow="1">
                <a:noFill/>
              </a:tblPr>
              <a:tblGrid>
                <a:gridCol w="1519092">
                  <a:extLst>
                    <a:ext uri="{9D8B030D-6E8A-4147-A177-3AD203B41FA5}">
                      <a16:colId xmlns:a16="http://schemas.microsoft.com/office/drawing/2014/main" val="20000"/>
                    </a:ext>
                  </a:extLst>
                </a:gridCol>
                <a:gridCol w="1183877">
                  <a:extLst>
                    <a:ext uri="{9D8B030D-6E8A-4147-A177-3AD203B41FA5}">
                      <a16:colId xmlns:a16="http://schemas.microsoft.com/office/drawing/2014/main" val="20001"/>
                    </a:ext>
                  </a:extLst>
                </a:gridCol>
                <a:gridCol w="984488">
                  <a:extLst>
                    <a:ext uri="{9D8B030D-6E8A-4147-A177-3AD203B41FA5}">
                      <a16:colId xmlns:a16="http://schemas.microsoft.com/office/drawing/2014/main" val="20002"/>
                    </a:ext>
                  </a:extLst>
                </a:gridCol>
              </a:tblGrid>
              <a:tr h="228600">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Aspiration</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Respondent Numbers</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a:t>
                      </a:r>
                      <a:endParaRPr sz="14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0"/>
                  </a:ext>
                </a:extLst>
              </a:tr>
              <a:tr h="228600">
                <a:tc>
                  <a:txBody>
                    <a:bodyPr/>
                    <a:lstStyle/>
                    <a:p>
                      <a:pPr marL="0" marR="0" lvl="0" indent="0" algn="just" rtl="0">
                        <a:lnSpc>
                          <a:spcPct val="107000"/>
                        </a:lnSpc>
                        <a:spcBef>
                          <a:spcPts val="0"/>
                        </a:spcBef>
                        <a:spcAft>
                          <a:spcPts val="0"/>
                        </a:spcAft>
                        <a:buNone/>
                      </a:pPr>
                      <a:r>
                        <a:rPr lang="en-US" sz="1400" u="none" strike="noStrike" cap="none" dirty="0">
                          <a:latin typeface="Gill Sans"/>
                          <a:ea typeface="Gill Sans"/>
                          <a:cs typeface="Gill Sans"/>
                          <a:sym typeface="Gill Sans"/>
                        </a:rPr>
                        <a:t>Increase my savings</a:t>
                      </a:r>
                      <a:endParaRPr sz="14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81</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77.14%</a:t>
                      </a:r>
                      <a:endParaRPr sz="14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1"/>
                  </a:ext>
                </a:extLst>
              </a:tr>
              <a:tr h="228600">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Increase my household income</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dirty="0">
                          <a:latin typeface="Gill Sans"/>
                          <a:ea typeface="Gill Sans"/>
                          <a:cs typeface="Gill Sans"/>
                          <a:sym typeface="Gill Sans"/>
                        </a:rPr>
                        <a:t>79</a:t>
                      </a:r>
                      <a:endParaRPr sz="14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75.24%</a:t>
                      </a:r>
                      <a:endParaRPr sz="14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2"/>
                  </a:ext>
                </a:extLst>
              </a:tr>
              <a:tr h="228600">
                <a:tc>
                  <a:txBody>
                    <a:bodyPr/>
                    <a:lstStyle/>
                    <a:p>
                      <a:pPr marL="0" marR="0" lvl="0" indent="0" algn="just" rtl="0">
                        <a:lnSpc>
                          <a:spcPct val="107000"/>
                        </a:lnSpc>
                        <a:spcBef>
                          <a:spcPts val="0"/>
                        </a:spcBef>
                        <a:spcAft>
                          <a:spcPts val="0"/>
                        </a:spcAft>
                        <a:buNone/>
                      </a:pPr>
                      <a:r>
                        <a:rPr lang="en-US" sz="1400" u="none" strike="noStrike" cap="none" dirty="0">
                          <a:latin typeface="Gill Sans"/>
                          <a:ea typeface="Gill Sans"/>
                          <a:cs typeface="Gill Sans"/>
                          <a:sym typeface="Gill Sans"/>
                        </a:rPr>
                        <a:t>I expect to have grown my business volume through borrowing</a:t>
                      </a:r>
                      <a:endParaRPr sz="14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dirty="0">
                          <a:latin typeface="Gill Sans"/>
                          <a:ea typeface="Gill Sans"/>
                          <a:cs typeface="Gill Sans"/>
                          <a:sym typeface="Gill Sans"/>
                        </a:rPr>
                        <a:t>69</a:t>
                      </a:r>
                      <a:endParaRPr sz="14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65.71%</a:t>
                      </a:r>
                      <a:endParaRPr sz="14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3"/>
                  </a:ext>
                </a:extLst>
              </a:tr>
              <a:tr h="228600">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I will have grown in the leadership of the cooperative community</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70</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66.67%</a:t>
                      </a:r>
                      <a:endParaRPr sz="14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4"/>
                  </a:ext>
                </a:extLst>
              </a:tr>
              <a:tr h="228600">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Easy access to money</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62</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59.05%</a:t>
                      </a:r>
                      <a:endParaRPr sz="14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5"/>
                  </a:ext>
                </a:extLst>
              </a:tr>
              <a:tr h="228600">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To own property</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37</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35.24%</a:t>
                      </a:r>
                      <a:endParaRPr sz="14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6"/>
                  </a:ext>
                </a:extLst>
              </a:tr>
              <a:tr h="228600">
                <a:tc>
                  <a:txBody>
                    <a:bodyPr/>
                    <a:lstStyle/>
                    <a:p>
                      <a:pPr marL="0" marR="0" lvl="0" indent="0" algn="just" rtl="0">
                        <a:lnSpc>
                          <a:spcPct val="107000"/>
                        </a:lnSpc>
                        <a:spcBef>
                          <a:spcPts val="0"/>
                        </a:spcBef>
                        <a:spcAft>
                          <a:spcPts val="0"/>
                        </a:spcAft>
                        <a:buNone/>
                      </a:pPr>
                      <a:r>
                        <a:rPr lang="en-US" sz="1400" u="none" strike="noStrike" cap="none" dirty="0">
                          <a:latin typeface="Gill Sans"/>
                          <a:ea typeface="Gill Sans"/>
                          <a:cs typeface="Gill Sans"/>
                          <a:sym typeface="Gill Sans"/>
                        </a:rPr>
                        <a:t>To marry more women</a:t>
                      </a:r>
                      <a:endParaRPr sz="14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a:latin typeface="Gill Sans"/>
                          <a:ea typeface="Gill Sans"/>
                          <a:cs typeface="Gill Sans"/>
                          <a:sym typeface="Gill Sans"/>
                        </a:rPr>
                        <a:t>7</a:t>
                      </a:r>
                      <a:endParaRPr sz="14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400" u="none" strike="noStrike" cap="none" dirty="0">
                          <a:latin typeface="Gill Sans"/>
                          <a:ea typeface="Gill Sans"/>
                          <a:cs typeface="Gill Sans"/>
                          <a:sym typeface="Gill Sans"/>
                        </a:rPr>
                        <a:t>6.67%</a:t>
                      </a:r>
                      <a:endParaRPr sz="14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7"/>
                  </a:ext>
                </a:extLst>
              </a:tr>
            </a:tbl>
          </a:graphicData>
        </a:graphic>
      </p:graphicFrame>
      <p:sp>
        <p:nvSpPr>
          <p:cNvPr id="2" name="Google Shape;683;p107">
            <a:extLst>
              <a:ext uri="{FF2B5EF4-FFF2-40B4-BE49-F238E27FC236}">
                <a16:creationId xmlns:a16="http://schemas.microsoft.com/office/drawing/2014/main" id="{B3FA9F91-0D01-BEED-73BC-1C82266C1B71}"/>
              </a:ext>
            </a:extLst>
          </p:cNvPr>
          <p:cNvSpPr txBox="1">
            <a:spLocks noGrp="1"/>
          </p:cNvSpPr>
          <p:nvPr>
            <p:ph type="title"/>
          </p:nvPr>
        </p:nvSpPr>
        <p:spPr>
          <a:xfrm>
            <a:off x="744074" y="182274"/>
            <a:ext cx="11136592" cy="728513"/>
          </a:xfrm>
          <a:prstGeom prst="rect">
            <a:avLst/>
          </a:prstGeom>
          <a:noFill/>
          <a:ln>
            <a:noFill/>
          </a:ln>
        </p:spPr>
        <p:txBody>
          <a:bodyPr spcFirstLastPara="1" wrap="square" lIns="91425" tIns="91425" rIns="91425" bIns="91425" anchor="t" anchorCtr="0">
            <a:noAutofit/>
          </a:bodyPr>
          <a:lstStyle/>
          <a:p>
            <a:pPr marL="0" lvl="0" indent="0" algn="just" rtl="0">
              <a:lnSpc>
                <a:spcPct val="100000"/>
              </a:lnSpc>
              <a:spcBef>
                <a:spcPts val="600"/>
              </a:spcBef>
              <a:spcAft>
                <a:spcPts val="600"/>
              </a:spcAft>
              <a:buSzPts val="1400"/>
              <a:buNone/>
            </a:pPr>
            <a:r>
              <a:rPr lang="en-US" sz="1800" b="1" dirty="0">
                <a:solidFill>
                  <a:srgbClr val="1A654C"/>
                </a:solidFill>
                <a:latin typeface="Gill Sans MT" panose="020B0502020104020203" pitchFamily="34" charset="77"/>
                <a:ea typeface="Work Sans"/>
                <a:cs typeface="Work Sans"/>
                <a:sym typeface="Work Sans"/>
              </a:rPr>
              <a:t>Sample analysis of </a:t>
            </a:r>
            <a:r>
              <a:rPr lang="en-US" sz="1800" b="1" dirty="0">
                <a:solidFill>
                  <a:srgbClr val="006E57"/>
                </a:solidFill>
                <a:latin typeface="Gill Sans MT" panose="020B0502020104020203" pitchFamily="34" charset="77"/>
                <a:ea typeface="Work Sans"/>
                <a:cs typeface="Work Sans"/>
                <a:sym typeface="Work Sans"/>
              </a:rPr>
              <a:t>individual</a:t>
            </a:r>
            <a:r>
              <a:rPr lang="en-US" sz="1800" b="1" dirty="0">
                <a:solidFill>
                  <a:srgbClr val="1A654C"/>
                </a:solidFill>
                <a:latin typeface="Gill Sans MT" panose="020B0502020104020203" pitchFamily="34" charset="77"/>
                <a:ea typeface="Work Sans"/>
                <a:cs typeface="Work Sans"/>
                <a:sym typeface="Work Sans"/>
              </a:rPr>
              <a:t> members’  reasons for joining coop, aspirations in 5 years, and insurance uptake</a:t>
            </a:r>
            <a:endParaRPr sz="1800" b="1" dirty="0">
              <a:solidFill>
                <a:srgbClr val="1A654C"/>
              </a:solidFill>
              <a:latin typeface="Gill Sans MT" panose="020B0502020104020203" pitchFamily="34" charset="77"/>
              <a:ea typeface="Work Sans"/>
              <a:cs typeface="Work Sans"/>
              <a:sym typeface="Work Sans"/>
            </a:endParaRPr>
          </a:p>
        </p:txBody>
      </p:sp>
      <p:pic>
        <p:nvPicPr>
          <p:cNvPr id="3" name="Google Shape;715;p18">
            <a:extLst>
              <a:ext uri="{FF2B5EF4-FFF2-40B4-BE49-F238E27FC236}">
                <a16:creationId xmlns:a16="http://schemas.microsoft.com/office/drawing/2014/main" id="{EEB4AC08-C0AD-281C-C3A7-E3256BC2A564}"/>
              </a:ext>
            </a:extLst>
          </p:cNvPr>
          <p:cNvPicPr preferRelativeResize="0"/>
          <p:nvPr/>
        </p:nvPicPr>
        <p:blipFill rotWithShape="1">
          <a:blip r:embed="rId3">
            <a:alphaModFix/>
          </a:blip>
          <a:srcRect/>
          <a:stretch/>
        </p:blipFill>
        <p:spPr>
          <a:xfrm>
            <a:off x="7368770" y="1528871"/>
            <a:ext cx="4428119" cy="4411173"/>
          </a:xfrm>
          <a:prstGeom prst="rect">
            <a:avLst/>
          </a:prstGeom>
          <a:noFill/>
          <a:ln>
            <a:noFill/>
          </a:ln>
        </p:spPr>
      </p:pic>
      <p:graphicFrame>
        <p:nvGraphicFramePr>
          <p:cNvPr id="4" name="Google Shape;649;p108">
            <a:extLst>
              <a:ext uri="{FF2B5EF4-FFF2-40B4-BE49-F238E27FC236}">
                <a16:creationId xmlns:a16="http://schemas.microsoft.com/office/drawing/2014/main" id="{4CB21D6F-C195-B58D-A5D5-DE7EFDCCB2DC}"/>
              </a:ext>
            </a:extLst>
          </p:cNvPr>
          <p:cNvGraphicFramePr/>
          <p:nvPr>
            <p:extLst>
              <p:ext uri="{D42A27DB-BD31-4B8C-83A1-F6EECF244321}">
                <p14:modId xmlns:p14="http://schemas.microsoft.com/office/powerpoint/2010/main" val="1477508810"/>
              </p:ext>
            </p:extLst>
          </p:nvPr>
        </p:nvGraphicFramePr>
        <p:xfrm>
          <a:off x="847801" y="1795165"/>
          <a:ext cx="2279222" cy="3634744"/>
        </p:xfrm>
        <a:graphic>
          <a:graphicData uri="http://schemas.openxmlformats.org/drawingml/2006/table">
            <a:tbl>
              <a:tblPr>
                <a:noFill/>
              </a:tblPr>
              <a:tblGrid>
                <a:gridCol w="1071310">
                  <a:extLst>
                    <a:ext uri="{9D8B030D-6E8A-4147-A177-3AD203B41FA5}">
                      <a16:colId xmlns:a16="http://schemas.microsoft.com/office/drawing/2014/main" val="20000"/>
                    </a:ext>
                  </a:extLst>
                </a:gridCol>
                <a:gridCol w="1207912">
                  <a:extLst>
                    <a:ext uri="{9D8B030D-6E8A-4147-A177-3AD203B41FA5}">
                      <a16:colId xmlns:a16="http://schemas.microsoft.com/office/drawing/2014/main" val="20001"/>
                    </a:ext>
                  </a:extLst>
                </a:gridCol>
              </a:tblGrid>
              <a:tr h="604618">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latin typeface="Gill Sans MT" panose="020B0502020104020203" pitchFamily="34" charset="77"/>
                          <a:ea typeface="Gill Sans"/>
                          <a:cs typeface="Calibri" panose="020F0502020204030204" pitchFamily="34" charset="0"/>
                          <a:sym typeface="Gill Sans"/>
                        </a:rPr>
                        <a:t>Reasons</a:t>
                      </a:r>
                      <a:endParaRPr sz="1600" u="none" strike="noStrike" cap="none" dirty="0">
                        <a:latin typeface="Gill Sans MT" panose="020B0502020104020203" pitchFamily="34" charset="77"/>
                        <a:cs typeface="Calibri" panose="020F0502020204030204" pitchFamily="34" charset="0"/>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8266"/>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dirty="0">
                          <a:latin typeface="Gill Sans MT" panose="020B0502020104020203" pitchFamily="34" charset="77"/>
                          <a:ea typeface="Gill Sans"/>
                          <a:cs typeface="Calibri" panose="020F0502020204030204" pitchFamily="34" charset="0"/>
                          <a:sym typeface="Gill Sans"/>
                        </a:rPr>
                        <a:t>Number of members who gave these reasons</a:t>
                      </a:r>
                      <a:endParaRPr sz="1600" u="none" strike="noStrike" cap="none" dirty="0">
                        <a:latin typeface="Gill Sans MT" panose="020B0502020104020203" pitchFamily="34" charset="77"/>
                        <a:cs typeface="Calibri" panose="020F0502020204030204" pitchFamily="34" charset="0"/>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008266"/>
                    </a:solidFill>
                  </a:tcPr>
                </a:tc>
                <a:extLst>
                  <a:ext uri="{0D108BD9-81ED-4DB2-BD59-A6C34878D82A}">
                    <a16:rowId xmlns:a16="http://schemas.microsoft.com/office/drawing/2014/main" val="10000"/>
                  </a:ext>
                </a:extLst>
              </a:tr>
              <a:tr h="300183">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Farming inputs</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Gill Sans MT" panose="020B0502020104020203" pitchFamily="34" charset="77"/>
                          <a:ea typeface="Gill Sans"/>
                          <a:cs typeface="Calibri" panose="020F0502020204030204" pitchFamily="34" charset="0"/>
                          <a:sym typeface="Gill Sans"/>
                        </a:rPr>
                        <a:t>39</a:t>
                      </a:r>
                      <a:endParaRPr sz="1600" u="none" strike="noStrike" cap="none" dirty="0">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extLst>
                  <a:ext uri="{0D108BD9-81ED-4DB2-BD59-A6C34878D82A}">
                    <a16:rowId xmlns:a16="http://schemas.microsoft.com/office/drawing/2014/main" val="10001"/>
                  </a:ext>
                </a:extLst>
              </a:tr>
              <a:tr h="357986">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Training</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47</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extLst>
                  <a:ext uri="{0D108BD9-81ED-4DB2-BD59-A6C34878D82A}">
                    <a16:rowId xmlns:a16="http://schemas.microsoft.com/office/drawing/2014/main" val="10002"/>
                  </a:ext>
                </a:extLst>
              </a:tr>
              <a:tr h="357986">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Marketing</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Gill Sans MT" panose="020B0502020104020203" pitchFamily="34" charset="77"/>
                          <a:ea typeface="Gill Sans"/>
                          <a:cs typeface="Calibri" panose="020F0502020204030204" pitchFamily="34" charset="0"/>
                          <a:sym typeface="Gill Sans"/>
                        </a:rPr>
                        <a:t>63</a:t>
                      </a:r>
                      <a:endParaRPr sz="1600" u="none" strike="noStrike" cap="none" dirty="0">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extLst>
                  <a:ext uri="{0D108BD9-81ED-4DB2-BD59-A6C34878D82A}">
                    <a16:rowId xmlns:a16="http://schemas.microsoft.com/office/drawing/2014/main" val="10003"/>
                  </a:ext>
                </a:extLst>
              </a:tr>
              <a:tr h="357986">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Savings</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37</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extLst>
                  <a:ext uri="{0D108BD9-81ED-4DB2-BD59-A6C34878D82A}">
                    <a16:rowId xmlns:a16="http://schemas.microsoft.com/office/drawing/2014/main" val="10004"/>
                  </a:ext>
                </a:extLst>
              </a:tr>
              <a:tr h="357986">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Investment</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Gill Sans MT" panose="020B0502020104020203" pitchFamily="34" charset="77"/>
                          <a:ea typeface="Gill Sans"/>
                          <a:cs typeface="Calibri" panose="020F0502020204030204" pitchFamily="34" charset="0"/>
                          <a:sym typeface="Gill Sans"/>
                        </a:rPr>
                        <a:t>26</a:t>
                      </a:r>
                      <a:endParaRPr sz="1600" u="none" strike="noStrike" cap="none" dirty="0">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extLst>
                  <a:ext uri="{0D108BD9-81ED-4DB2-BD59-A6C34878D82A}">
                    <a16:rowId xmlns:a16="http://schemas.microsoft.com/office/drawing/2014/main" val="10005"/>
                  </a:ext>
                </a:extLst>
              </a:tr>
              <a:tr h="63816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Gill Sans MT" panose="020B0502020104020203" pitchFamily="34" charset="77"/>
                          <a:ea typeface="Gill Sans"/>
                          <a:cs typeface="Calibri" panose="020F0502020204030204" pitchFamily="34" charset="0"/>
                          <a:sym typeface="Gill Sans"/>
                        </a:rPr>
                        <a:t>Business Networking</a:t>
                      </a:r>
                      <a:endParaRPr sz="1600" u="none" strike="noStrike" cap="none">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Gill Sans MT" panose="020B0502020104020203" pitchFamily="34" charset="77"/>
                          <a:ea typeface="Gill Sans"/>
                          <a:cs typeface="Calibri" panose="020F0502020204030204" pitchFamily="34" charset="0"/>
                          <a:sym typeface="Gill Sans"/>
                        </a:rPr>
                        <a:t>49</a:t>
                      </a:r>
                      <a:endParaRPr sz="1600" u="none" strike="noStrike" cap="none" dirty="0">
                        <a:latin typeface="Gill Sans MT" panose="020B0502020104020203" pitchFamily="34" charset="77"/>
                        <a:ea typeface="Gill Sans"/>
                        <a:cs typeface="Calibri" panose="020F0502020204030204" pitchFamily="34" charset="0"/>
                        <a:sym typeface="Gill Sans"/>
                      </a:endParaRPr>
                    </a:p>
                  </a:txBody>
                  <a:tcPr marL="25400" marR="25400" marT="25400" marB="25400">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5F0FF"/>
                    </a:solidFill>
                  </a:tcPr>
                </a:tc>
                <a:extLst>
                  <a:ext uri="{0D108BD9-81ED-4DB2-BD59-A6C34878D82A}">
                    <a16:rowId xmlns:a16="http://schemas.microsoft.com/office/drawing/2014/main" val="10006"/>
                  </a:ext>
                </a:extLst>
              </a:tr>
            </a:tbl>
          </a:graphicData>
        </a:graphic>
      </p:graphicFrame>
      <p:sp>
        <p:nvSpPr>
          <p:cNvPr id="5" name="Google Shape;703;p17">
            <a:extLst>
              <a:ext uri="{FF2B5EF4-FFF2-40B4-BE49-F238E27FC236}">
                <a16:creationId xmlns:a16="http://schemas.microsoft.com/office/drawing/2014/main" id="{148AB77C-FD55-F876-93A2-679745C244A8}"/>
              </a:ext>
            </a:extLst>
          </p:cNvPr>
          <p:cNvSpPr txBox="1"/>
          <p:nvPr/>
        </p:nvSpPr>
        <p:spPr>
          <a:xfrm>
            <a:off x="7699022" y="917956"/>
            <a:ext cx="3996267" cy="338514"/>
          </a:xfrm>
          <a:prstGeom prst="rect">
            <a:avLst/>
          </a:prstGeom>
          <a:noFill/>
          <a:ln>
            <a:noFill/>
          </a:ln>
        </p:spPr>
        <p:txBody>
          <a:bodyPr spcFirstLastPara="1" wrap="square" lIns="91425" tIns="45700" rIns="91425" bIns="45700" anchor="t" anchorCtr="0">
            <a:spAutoFit/>
          </a:bodyPr>
          <a:lstStyle/>
          <a:p>
            <a:pPr marL="114300" marR="0" lvl="0" indent="0" algn="just" rtl="0">
              <a:lnSpc>
                <a:spcPct val="100000"/>
              </a:lnSpc>
              <a:spcBef>
                <a:spcPts val="0"/>
              </a:spcBef>
              <a:spcAft>
                <a:spcPts val="0"/>
              </a:spcAft>
              <a:buClr>
                <a:srgbClr val="000000"/>
              </a:buClr>
              <a:buSzPts val="1600"/>
              <a:buFont typeface="Arial"/>
              <a:buNone/>
            </a:pPr>
            <a:r>
              <a:rPr lang="en-US" sz="1600" b="1" dirty="0">
                <a:solidFill>
                  <a:srgbClr val="000000"/>
                </a:solidFill>
                <a:latin typeface="Gill Sans"/>
                <a:ea typeface="Arial"/>
                <a:cs typeface="Gill Sans"/>
                <a:sym typeface="Gill Sans"/>
              </a:rPr>
              <a:t>Members’ Insurance Uptake</a:t>
            </a:r>
            <a:endParaRPr sz="1600" b="0" i="0" u="none" strike="noStrike" cap="none" dirty="0">
              <a:solidFill>
                <a:srgbClr val="000000"/>
              </a:solidFill>
              <a:latin typeface="Arial"/>
              <a:ea typeface="Arial"/>
              <a:cs typeface="Arial"/>
              <a:sym typeface="Arial"/>
            </a:endParaRPr>
          </a:p>
        </p:txBody>
      </p:sp>
      <p:sp>
        <p:nvSpPr>
          <p:cNvPr id="6" name="Google Shape;703;p17">
            <a:extLst>
              <a:ext uri="{FF2B5EF4-FFF2-40B4-BE49-F238E27FC236}">
                <a16:creationId xmlns:a16="http://schemas.microsoft.com/office/drawing/2014/main" id="{1FD4AFED-DB2C-C4EC-210C-F7912420F4DD}"/>
              </a:ext>
            </a:extLst>
          </p:cNvPr>
          <p:cNvSpPr txBox="1"/>
          <p:nvPr/>
        </p:nvSpPr>
        <p:spPr>
          <a:xfrm>
            <a:off x="847800" y="1087213"/>
            <a:ext cx="2279223" cy="523180"/>
          </a:xfrm>
          <a:prstGeom prst="rect">
            <a:avLst/>
          </a:prstGeom>
          <a:noFill/>
          <a:ln>
            <a:noFill/>
          </a:ln>
        </p:spPr>
        <p:txBody>
          <a:bodyPr spcFirstLastPara="1" wrap="square" lIns="91425" tIns="45700" rIns="91425" bIns="45700" anchor="t" anchorCtr="0">
            <a:spAutoFit/>
          </a:bodyPr>
          <a:lstStyle/>
          <a:p>
            <a:pPr marL="114300" marR="0" lvl="0" indent="0" algn="just" rtl="0">
              <a:lnSpc>
                <a:spcPct val="100000"/>
              </a:lnSpc>
              <a:spcBef>
                <a:spcPts val="0"/>
              </a:spcBef>
              <a:spcAft>
                <a:spcPts val="0"/>
              </a:spcAft>
              <a:buClr>
                <a:srgbClr val="000000"/>
              </a:buClr>
              <a:buSzPts val="1600"/>
              <a:buFont typeface="Arial"/>
              <a:buNone/>
            </a:pPr>
            <a:r>
              <a:rPr lang="en-US" sz="1400" b="1" dirty="0">
                <a:solidFill>
                  <a:srgbClr val="000000"/>
                </a:solidFill>
                <a:latin typeface="Gill Sans"/>
                <a:ea typeface="Gill Sans"/>
                <a:cs typeface="Gill Sans"/>
                <a:sym typeface="Gill Sans"/>
              </a:rPr>
              <a:t>Members’ reasons for joining cooperative</a:t>
            </a:r>
            <a:r>
              <a:rPr lang="en-US" sz="1400" b="1" i="0" u="none" strike="noStrike" cap="none" dirty="0">
                <a:solidFill>
                  <a:srgbClr val="000000"/>
                </a:solidFill>
                <a:latin typeface="Gill Sans"/>
                <a:ea typeface="Gill Sans"/>
                <a:cs typeface="Gill Sans"/>
                <a:sym typeface="Gill Sans"/>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3" name="Google Shape;683;p107"/>
          <p:cNvSpPr txBox="1">
            <a:spLocks noGrp="1"/>
          </p:cNvSpPr>
          <p:nvPr>
            <p:ph type="title"/>
          </p:nvPr>
        </p:nvSpPr>
        <p:spPr>
          <a:xfrm>
            <a:off x="660296" y="282274"/>
            <a:ext cx="11023703" cy="517061"/>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600"/>
              </a:spcBef>
              <a:spcAft>
                <a:spcPts val="600"/>
              </a:spcAft>
              <a:buSzPts val="1400"/>
              <a:buNone/>
            </a:pPr>
            <a:r>
              <a:rPr lang="en-US" sz="1800" b="1" dirty="0">
                <a:solidFill>
                  <a:srgbClr val="1A654C"/>
                </a:solidFill>
                <a:latin typeface="Gill Sans MT" panose="020B0502020104020203" pitchFamily="34" charset="77"/>
                <a:ea typeface="Work Sans"/>
                <a:cs typeface="Work Sans"/>
                <a:sym typeface="Work Sans"/>
              </a:rPr>
              <a:t>Sample analysis of individual cooperative members’ Land </a:t>
            </a:r>
            <a:r>
              <a:rPr lang="en-US" sz="1800" b="1" dirty="0">
                <a:solidFill>
                  <a:srgbClr val="1A654C"/>
                </a:solidFill>
                <a:latin typeface="Gill Sans MT" panose="020B0502020104020203" pitchFamily="34" charset="77"/>
                <a:ea typeface="Gill Sans"/>
                <a:cs typeface="Gill Sans"/>
                <a:sym typeface="Gill Sans"/>
              </a:rPr>
              <a:t>Ownership</a:t>
            </a:r>
            <a:r>
              <a:rPr lang="en-US" sz="1800" b="1" dirty="0">
                <a:solidFill>
                  <a:srgbClr val="1A654C"/>
                </a:solidFill>
                <a:latin typeface="Gill Sans MT" panose="020B0502020104020203" pitchFamily="34" charset="77"/>
                <a:ea typeface="Work Sans"/>
                <a:cs typeface="Work Sans"/>
                <a:sym typeface="Work Sans"/>
              </a:rPr>
              <a:t>, Incomes, Key Crops, Family Size</a:t>
            </a:r>
            <a:endParaRPr sz="1800" b="1" dirty="0">
              <a:solidFill>
                <a:srgbClr val="1A654C"/>
              </a:solidFill>
              <a:latin typeface="Gill Sans MT" panose="020B0502020104020203" pitchFamily="34" charset="77"/>
              <a:ea typeface="Work Sans"/>
              <a:cs typeface="Work Sans"/>
              <a:sym typeface="Work Sans"/>
            </a:endParaRPr>
          </a:p>
        </p:txBody>
      </p:sp>
      <p:grpSp>
        <p:nvGrpSpPr>
          <p:cNvPr id="684" name="Google Shape;684;p107"/>
          <p:cNvGrpSpPr/>
          <p:nvPr/>
        </p:nvGrpSpPr>
        <p:grpSpPr>
          <a:xfrm>
            <a:off x="-125" y="0"/>
            <a:ext cx="1009775" cy="158700"/>
            <a:chOff x="-125" y="0"/>
            <a:chExt cx="1009775" cy="158700"/>
          </a:xfrm>
        </p:grpSpPr>
        <p:sp>
          <p:nvSpPr>
            <p:cNvPr id="685" name="Google Shape;685;p107"/>
            <p:cNvSpPr/>
            <p:nvPr/>
          </p:nvSpPr>
          <p:spPr>
            <a:xfrm rot="5400000">
              <a:off x="275125" y="-275250"/>
              <a:ext cx="158700" cy="709200"/>
            </a:xfrm>
            <a:prstGeom prst="rect">
              <a:avLst/>
            </a:prstGeom>
            <a:solidFill>
              <a:srgbClr val="9800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Work Sans"/>
                <a:ea typeface="Work Sans"/>
                <a:cs typeface="Work Sans"/>
                <a:sym typeface="Work Sans"/>
              </a:endParaRPr>
            </a:p>
          </p:txBody>
        </p:sp>
        <p:sp>
          <p:nvSpPr>
            <p:cNvPr id="686" name="Google Shape;686;p107"/>
            <p:cNvSpPr/>
            <p:nvPr/>
          </p:nvSpPr>
          <p:spPr>
            <a:xfrm rot="5400000">
              <a:off x="768450" y="-82500"/>
              <a:ext cx="158700" cy="3237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Work Sans"/>
                <a:ea typeface="Work Sans"/>
                <a:cs typeface="Work Sans"/>
                <a:sym typeface="Work Sans"/>
              </a:endParaRPr>
            </a:p>
          </p:txBody>
        </p:sp>
      </p:grpSp>
      <p:sp>
        <p:nvSpPr>
          <p:cNvPr id="687" name="Google Shape;687;p107"/>
          <p:cNvSpPr txBox="1"/>
          <p:nvPr/>
        </p:nvSpPr>
        <p:spPr>
          <a:xfrm>
            <a:off x="6374563" y="4164115"/>
            <a:ext cx="4253575" cy="307736"/>
          </a:xfrm>
          <a:prstGeom prst="rect">
            <a:avLst/>
          </a:prstGeom>
          <a:noFill/>
          <a:ln>
            <a:noFill/>
          </a:ln>
        </p:spPr>
        <p:txBody>
          <a:bodyPr spcFirstLastPara="1" wrap="square" lIns="91425" tIns="45700" rIns="91425" bIns="45700" anchor="t" anchorCtr="0">
            <a:spAutoFit/>
          </a:bodyPr>
          <a:lstStyle/>
          <a:p>
            <a:pPr marL="114300" marR="0" lvl="0" indent="0" algn="just" rtl="0">
              <a:lnSpc>
                <a:spcPct val="100000"/>
              </a:lnSpc>
              <a:spcBef>
                <a:spcPts val="0"/>
              </a:spcBef>
              <a:spcAft>
                <a:spcPts val="0"/>
              </a:spcAft>
              <a:buClr>
                <a:srgbClr val="000000"/>
              </a:buClr>
              <a:buSzPts val="1600"/>
              <a:buFont typeface="Arial"/>
              <a:buNone/>
            </a:pPr>
            <a:r>
              <a:rPr lang="en-US" sz="1400" b="1" i="0" u="none" strike="noStrike" cap="none" dirty="0">
                <a:solidFill>
                  <a:srgbClr val="000000"/>
                </a:solidFill>
                <a:latin typeface="Gill Sans"/>
                <a:ea typeface="Gill Sans"/>
                <a:cs typeface="Gill Sans"/>
                <a:sym typeface="Gill Sans"/>
              </a:rPr>
              <a:t>Table : Members Land Ownership Status</a:t>
            </a:r>
            <a:endParaRPr sz="1400" b="0" i="0" u="none" strike="noStrike" cap="none" dirty="0">
              <a:solidFill>
                <a:srgbClr val="000000"/>
              </a:solidFill>
              <a:latin typeface="Arial"/>
              <a:ea typeface="Arial"/>
              <a:cs typeface="Arial"/>
              <a:sym typeface="Arial"/>
            </a:endParaRPr>
          </a:p>
        </p:txBody>
      </p:sp>
      <p:sp>
        <p:nvSpPr>
          <p:cNvPr id="688" name="Google Shape;688;p107"/>
          <p:cNvSpPr txBox="1"/>
          <p:nvPr/>
        </p:nvSpPr>
        <p:spPr>
          <a:xfrm>
            <a:off x="6374563" y="872637"/>
            <a:ext cx="4850901" cy="307736"/>
          </a:xfrm>
          <a:prstGeom prst="rect">
            <a:avLst/>
          </a:prstGeom>
          <a:noFill/>
          <a:ln>
            <a:noFill/>
          </a:ln>
        </p:spPr>
        <p:txBody>
          <a:bodyPr spcFirstLastPara="1" wrap="square" lIns="91425" tIns="45700" rIns="91425" bIns="45700" anchor="t" anchorCtr="0">
            <a:spAutoFit/>
          </a:bodyPr>
          <a:lstStyle/>
          <a:p>
            <a:pPr marL="114300" marR="0" lvl="0" indent="0" algn="just" rtl="0">
              <a:lnSpc>
                <a:spcPct val="100000"/>
              </a:lnSpc>
              <a:spcBef>
                <a:spcPts val="0"/>
              </a:spcBef>
              <a:spcAft>
                <a:spcPts val="0"/>
              </a:spcAft>
              <a:buClr>
                <a:srgbClr val="000000"/>
              </a:buClr>
              <a:buSzPts val="1600"/>
              <a:buFont typeface="Arial"/>
              <a:buNone/>
            </a:pPr>
            <a:r>
              <a:rPr lang="en-US" sz="1400" b="1" i="0" u="none" strike="noStrike" cap="none" dirty="0">
                <a:solidFill>
                  <a:srgbClr val="000000"/>
                </a:solidFill>
                <a:latin typeface="Gill Sans"/>
                <a:ea typeface="Gill Sans"/>
                <a:cs typeface="Gill Sans"/>
                <a:sym typeface="Gill Sans"/>
              </a:rPr>
              <a:t>Table : Key Crops Grown by members</a:t>
            </a:r>
            <a:endParaRPr sz="1400" b="0" i="0" u="none" strike="noStrike" cap="none" dirty="0">
              <a:solidFill>
                <a:srgbClr val="000000"/>
              </a:solidFill>
              <a:latin typeface="Arial"/>
              <a:ea typeface="Arial"/>
              <a:cs typeface="Arial"/>
              <a:sym typeface="Arial"/>
            </a:endParaRPr>
          </a:p>
        </p:txBody>
      </p:sp>
      <p:sp>
        <p:nvSpPr>
          <p:cNvPr id="689" name="Google Shape;689;p107"/>
          <p:cNvSpPr txBox="1"/>
          <p:nvPr/>
        </p:nvSpPr>
        <p:spPr>
          <a:xfrm>
            <a:off x="709075" y="939837"/>
            <a:ext cx="3742609" cy="338514"/>
          </a:xfrm>
          <a:prstGeom prst="rect">
            <a:avLst/>
          </a:prstGeom>
          <a:noFill/>
          <a:ln>
            <a:noFill/>
          </a:ln>
        </p:spPr>
        <p:txBody>
          <a:bodyPr spcFirstLastPara="1" wrap="square" lIns="91425" tIns="45700" rIns="91425" bIns="45700" anchor="t" anchorCtr="0">
            <a:spAutoFit/>
          </a:bodyPr>
          <a:lstStyle/>
          <a:p>
            <a:pPr marL="114300" marR="0" lvl="0" indent="0" algn="just" rtl="0">
              <a:lnSpc>
                <a:spcPct val="100000"/>
              </a:lnSpc>
              <a:spcBef>
                <a:spcPts val="0"/>
              </a:spcBef>
              <a:spcAft>
                <a:spcPts val="0"/>
              </a:spcAft>
              <a:buClr>
                <a:srgbClr val="000000"/>
              </a:buClr>
              <a:buSzPts val="1600"/>
              <a:buFont typeface="Arial"/>
              <a:buNone/>
            </a:pPr>
            <a:r>
              <a:rPr lang="en-US" sz="1600" b="1" i="0" u="none" strike="noStrike" cap="none" dirty="0">
                <a:solidFill>
                  <a:srgbClr val="000000"/>
                </a:solidFill>
                <a:latin typeface="Gill Sans"/>
                <a:ea typeface="Gill Sans"/>
                <a:cs typeface="Gill Sans"/>
                <a:sym typeface="Gill Sans"/>
              </a:rPr>
              <a:t>Table : Monthly Income Status</a:t>
            </a:r>
            <a:endParaRPr sz="1600" b="0" i="0" u="none" strike="noStrike" cap="none" dirty="0">
              <a:solidFill>
                <a:srgbClr val="000000"/>
              </a:solidFill>
              <a:latin typeface="Arial"/>
              <a:ea typeface="Arial"/>
              <a:cs typeface="Arial"/>
              <a:sym typeface="Arial"/>
            </a:endParaRPr>
          </a:p>
        </p:txBody>
      </p:sp>
      <p:graphicFrame>
        <p:nvGraphicFramePr>
          <p:cNvPr id="690" name="Google Shape;690;p107"/>
          <p:cNvGraphicFramePr/>
          <p:nvPr>
            <p:extLst>
              <p:ext uri="{D42A27DB-BD31-4B8C-83A1-F6EECF244321}">
                <p14:modId xmlns:p14="http://schemas.microsoft.com/office/powerpoint/2010/main" val="1548014818"/>
              </p:ext>
            </p:extLst>
          </p:nvPr>
        </p:nvGraphicFramePr>
        <p:xfrm>
          <a:off x="847797" y="1395707"/>
          <a:ext cx="4253573" cy="1646048"/>
        </p:xfrm>
        <a:graphic>
          <a:graphicData uri="http://schemas.openxmlformats.org/drawingml/2006/table">
            <a:tbl>
              <a:tblPr firstRow="1" firstCol="1" bandRow="1">
                <a:noFill/>
              </a:tblPr>
              <a:tblGrid>
                <a:gridCol w="2595313">
                  <a:extLst>
                    <a:ext uri="{9D8B030D-6E8A-4147-A177-3AD203B41FA5}">
                      <a16:colId xmlns:a16="http://schemas.microsoft.com/office/drawing/2014/main" val="20000"/>
                    </a:ext>
                  </a:extLst>
                </a:gridCol>
                <a:gridCol w="1658260">
                  <a:extLst>
                    <a:ext uri="{9D8B030D-6E8A-4147-A177-3AD203B41FA5}">
                      <a16:colId xmlns:a16="http://schemas.microsoft.com/office/drawing/2014/main" val="20001"/>
                    </a:ext>
                  </a:extLst>
                </a:gridCol>
              </a:tblGrid>
              <a:tr h="3175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Description</a:t>
                      </a:r>
                      <a:endParaRPr sz="1600" u="none" strike="noStrike" cap="none">
                        <a:latin typeface="Gill Sans"/>
                        <a:ea typeface="Gill Sans"/>
                        <a:cs typeface="Gill Sans"/>
                        <a:sym typeface="Gill Sans"/>
                      </a:endParaRPr>
                    </a:p>
                  </a:txBody>
                  <a:tcPr marL="68575" marR="68575" marT="0" marB="0">
                    <a:solidFill>
                      <a:srgbClr val="00B050"/>
                    </a:solidFill>
                  </a:tcPr>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Amount (UGX)</a:t>
                      </a:r>
                      <a:endParaRPr sz="1600" u="none" strike="noStrike" cap="none" dirty="0">
                        <a:latin typeface="Gill Sans"/>
                        <a:ea typeface="Gill Sans"/>
                        <a:cs typeface="Gill Sans"/>
                        <a:sym typeface="Gill Sans"/>
                      </a:endParaRPr>
                    </a:p>
                  </a:txBody>
                  <a:tcPr marL="68575" marR="68575" marT="0" marB="0">
                    <a:solidFill>
                      <a:srgbClr val="00B050"/>
                    </a:solidFill>
                  </a:tcPr>
                </a:tc>
                <a:extLst>
                  <a:ext uri="{0D108BD9-81ED-4DB2-BD59-A6C34878D82A}">
                    <a16:rowId xmlns:a16="http://schemas.microsoft.com/office/drawing/2014/main" val="10000"/>
                  </a:ext>
                </a:extLst>
              </a:tr>
              <a:tr h="3175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Average Monthly Income</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1,086,786</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1"/>
                  </a:ext>
                </a:extLst>
              </a:tr>
              <a:tr h="355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Maximum Monthly Income Recorded</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10,000,000</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2"/>
                  </a:ext>
                </a:extLst>
              </a:tr>
              <a:tr h="355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Minimum Monthly Income Recorded</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10,000</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3"/>
                  </a:ext>
                </a:extLst>
              </a:tr>
            </a:tbl>
          </a:graphicData>
        </a:graphic>
      </p:graphicFrame>
      <p:graphicFrame>
        <p:nvGraphicFramePr>
          <p:cNvPr id="691" name="Google Shape;691;p107"/>
          <p:cNvGraphicFramePr/>
          <p:nvPr>
            <p:extLst>
              <p:ext uri="{D42A27DB-BD31-4B8C-83A1-F6EECF244321}">
                <p14:modId xmlns:p14="http://schemas.microsoft.com/office/powerpoint/2010/main" val="1678408313"/>
              </p:ext>
            </p:extLst>
          </p:nvPr>
        </p:nvGraphicFramePr>
        <p:xfrm>
          <a:off x="6433885" y="4533317"/>
          <a:ext cx="5148515" cy="1241745"/>
        </p:xfrm>
        <a:graphic>
          <a:graphicData uri="http://schemas.openxmlformats.org/drawingml/2006/table">
            <a:tbl>
              <a:tblPr firstRow="1" firstCol="1" bandRow="1">
                <a:noFill/>
              </a:tblPr>
              <a:tblGrid>
                <a:gridCol w="2157894">
                  <a:extLst>
                    <a:ext uri="{9D8B030D-6E8A-4147-A177-3AD203B41FA5}">
                      <a16:colId xmlns:a16="http://schemas.microsoft.com/office/drawing/2014/main" val="20000"/>
                    </a:ext>
                  </a:extLst>
                </a:gridCol>
                <a:gridCol w="1274894">
                  <a:extLst>
                    <a:ext uri="{9D8B030D-6E8A-4147-A177-3AD203B41FA5}">
                      <a16:colId xmlns:a16="http://schemas.microsoft.com/office/drawing/2014/main" val="20001"/>
                    </a:ext>
                  </a:extLst>
                </a:gridCol>
                <a:gridCol w="1715727">
                  <a:extLst>
                    <a:ext uri="{9D8B030D-6E8A-4147-A177-3AD203B41FA5}">
                      <a16:colId xmlns:a16="http://schemas.microsoft.com/office/drawing/2014/main" val="20002"/>
                    </a:ext>
                  </a:extLst>
                </a:gridCol>
              </a:tblGrid>
              <a:tr h="228600">
                <a:tc>
                  <a:txBody>
                    <a:bodyPr/>
                    <a:lstStyle/>
                    <a:p>
                      <a:pPr marL="0" marR="0" lvl="0" indent="0" algn="just" rtl="0">
                        <a:lnSpc>
                          <a:spcPct val="107000"/>
                        </a:lnSpc>
                        <a:spcBef>
                          <a:spcPts val="0"/>
                        </a:spcBef>
                        <a:spcAft>
                          <a:spcPts val="0"/>
                        </a:spcAft>
                        <a:buNone/>
                      </a:pPr>
                      <a:r>
                        <a:rPr lang="en-US" sz="1600" u="none" strike="noStrike" cap="none" dirty="0"/>
                        <a:t>Category</a:t>
                      </a:r>
                      <a:endParaRPr sz="1600" u="none" strike="noStrike" cap="none" dirty="0">
                        <a:latin typeface="Gill Sans"/>
                        <a:ea typeface="Gill Sans"/>
                        <a:cs typeface="Gill Sans"/>
                        <a:sym typeface="Gill Sans"/>
                      </a:endParaRPr>
                    </a:p>
                  </a:txBody>
                  <a:tcPr marL="68575" marR="68575" marT="0" marB="0">
                    <a:solidFill>
                      <a:srgbClr val="00B050"/>
                    </a:solidFill>
                  </a:tcPr>
                </a:tc>
                <a:tc>
                  <a:txBody>
                    <a:bodyPr/>
                    <a:lstStyle/>
                    <a:p>
                      <a:pPr marL="0" marR="0" lvl="0" indent="0" algn="just" rtl="0">
                        <a:lnSpc>
                          <a:spcPct val="107000"/>
                        </a:lnSpc>
                        <a:spcBef>
                          <a:spcPts val="0"/>
                        </a:spcBef>
                        <a:spcAft>
                          <a:spcPts val="0"/>
                        </a:spcAft>
                        <a:buNone/>
                      </a:pPr>
                      <a:r>
                        <a:rPr lang="en-US" sz="1600" u="none" strike="noStrike" cap="none" dirty="0"/>
                        <a:t>Percentage</a:t>
                      </a:r>
                      <a:endParaRPr sz="1600" u="none" strike="noStrike" cap="none" dirty="0">
                        <a:latin typeface="Gill Sans"/>
                        <a:ea typeface="Gill Sans"/>
                        <a:cs typeface="Gill Sans"/>
                        <a:sym typeface="Gill Sans"/>
                      </a:endParaRPr>
                    </a:p>
                  </a:txBody>
                  <a:tcPr marL="68575" marR="68575" marT="0" marB="0">
                    <a:solidFill>
                      <a:srgbClr val="00B050"/>
                    </a:solidFill>
                  </a:tcPr>
                </a:tc>
                <a:tc>
                  <a:txBody>
                    <a:bodyPr/>
                    <a:lstStyle/>
                    <a:p>
                      <a:pPr marL="0" marR="0" lvl="0" indent="0" algn="just" rtl="0">
                        <a:lnSpc>
                          <a:spcPct val="107000"/>
                        </a:lnSpc>
                        <a:spcBef>
                          <a:spcPts val="0"/>
                        </a:spcBef>
                        <a:spcAft>
                          <a:spcPts val="0"/>
                        </a:spcAft>
                        <a:buNone/>
                      </a:pPr>
                      <a:r>
                        <a:rPr lang="en-US" sz="1600" u="none" strike="noStrike" cap="none" dirty="0"/>
                        <a:t>Number</a:t>
                      </a:r>
                      <a:endParaRPr sz="1600" u="none" strike="noStrike" cap="none" dirty="0">
                        <a:latin typeface="Gill Sans"/>
                        <a:ea typeface="Gill Sans"/>
                        <a:cs typeface="Gill Sans"/>
                        <a:sym typeface="Gill Sans"/>
                      </a:endParaRPr>
                    </a:p>
                  </a:txBody>
                  <a:tcPr marL="68575" marR="68575" marT="0" marB="0">
                    <a:solidFill>
                      <a:srgbClr val="00B050"/>
                    </a:solidFill>
                  </a:tcPr>
                </a:tc>
                <a:extLst>
                  <a:ext uri="{0D108BD9-81ED-4DB2-BD59-A6C34878D82A}">
                    <a16:rowId xmlns:a16="http://schemas.microsoft.com/office/drawing/2014/main" val="10000"/>
                  </a:ext>
                </a:extLst>
              </a:tr>
              <a:tr h="228600">
                <a:tc>
                  <a:txBody>
                    <a:bodyPr/>
                    <a:lstStyle/>
                    <a:p>
                      <a:pPr marL="0" marR="0" lvl="0" indent="0" algn="just" rtl="0">
                        <a:lnSpc>
                          <a:spcPct val="107000"/>
                        </a:lnSpc>
                        <a:spcBef>
                          <a:spcPts val="0"/>
                        </a:spcBef>
                        <a:spcAft>
                          <a:spcPts val="0"/>
                        </a:spcAft>
                        <a:buNone/>
                      </a:pPr>
                      <a:r>
                        <a:rPr lang="en-US" sz="1600" u="none" strike="noStrike" cap="none"/>
                        <a:t>Have land</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t>90%</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t>94</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1"/>
                  </a:ext>
                </a:extLst>
              </a:tr>
              <a:tr h="228600">
                <a:tc>
                  <a:txBody>
                    <a:bodyPr/>
                    <a:lstStyle/>
                    <a:p>
                      <a:pPr marL="0" marR="0" lvl="0" indent="0" algn="just" rtl="0">
                        <a:lnSpc>
                          <a:spcPct val="107000"/>
                        </a:lnSpc>
                        <a:spcBef>
                          <a:spcPts val="0"/>
                        </a:spcBef>
                        <a:spcAft>
                          <a:spcPts val="0"/>
                        </a:spcAft>
                        <a:buNone/>
                      </a:pPr>
                      <a:r>
                        <a:rPr lang="en-US" sz="1600" u="none" strike="noStrike" cap="none"/>
                        <a:t>Own land</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t>70%</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t>74</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2"/>
                  </a:ext>
                </a:extLst>
              </a:tr>
              <a:tr h="228600">
                <a:tc>
                  <a:txBody>
                    <a:bodyPr/>
                    <a:lstStyle/>
                    <a:p>
                      <a:pPr marL="0" marR="0" lvl="0" indent="0" algn="just" rtl="0">
                        <a:lnSpc>
                          <a:spcPct val="107000"/>
                        </a:lnSpc>
                        <a:spcBef>
                          <a:spcPts val="0"/>
                        </a:spcBef>
                        <a:spcAft>
                          <a:spcPts val="0"/>
                        </a:spcAft>
                        <a:buNone/>
                      </a:pPr>
                      <a:r>
                        <a:rPr lang="en-US" sz="1600" u="none" strike="noStrike" cap="none" dirty="0"/>
                        <a:t>Use Land for Farming</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t>67%</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t>70</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3"/>
                  </a:ext>
                </a:extLst>
              </a:tr>
              <a:tr h="228600">
                <a:tc>
                  <a:txBody>
                    <a:bodyPr/>
                    <a:lstStyle/>
                    <a:p>
                      <a:pPr marL="0" marR="0" lvl="0" indent="0" algn="just" rtl="0">
                        <a:lnSpc>
                          <a:spcPct val="107000"/>
                        </a:lnSpc>
                        <a:spcBef>
                          <a:spcPts val="0"/>
                        </a:spcBef>
                        <a:spcAft>
                          <a:spcPts val="0"/>
                        </a:spcAft>
                        <a:buNone/>
                      </a:pPr>
                      <a:r>
                        <a:rPr lang="en-US" sz="1600" u="none" strike="noStrike" cap="none"/>
                        <a:t>Total Acreage</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t>---</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t>698</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4"/>
                  </a:ext>
                </a:extLst>
              </a:tr>
            </a:tbl>
          </a:graphicData>
        </a:graphic>
      </p:graphicFrame>
      <p:graphicFrame>
        <p:nvGraphicFramePr>
          <p:cNvPr id="692" name="Google Shape;692;p107"/>
          <p:cNvGraphicFramePr/>
          <p:nvPr>
            <p:extLst>
              <p:ext uri="{D42A27DB-BD31-4B8C-83A1-F6EECF244321}">
                <p14:modId xmlns:p14="http://schemas.microsoft.com/office/powerpoint/2010/main" val="2847187530"/>
              </p:ext>
            </p:extLst>
          </p:nvPr>
        </p:nvGraphicFramePr>
        <p:xfrm>
          <a:off x="6374564" y="1395707"/>
          <a:ext cx="5207836" cy="2706942"/>
        </p:xfrm>
        <a:graphic>
          <a:graphicData uri="http://schemas.openxmlformats.org/drawingml/2006/table">
            <a:tbl>
              <a:tblPr firstRow="1" firstCol="1" bandRow="1">
                <a:noFill/>
              </a:tblPr>
              <a:tblGrid>
                <a:gridCol w="1631146">
                  <a:extLst>
                    <a:ext uri="{9D8B030D-6E8A-4147-A177-3AD203B41FA5}">
                      <a16:colId xmlns:a16="http://schemas.microsoft.com/office/drawing/2014/main" val="20000"/>
                    </a:ext>
                  </a:extLst>
                </a:gridCol>
                <a:gridCol w="1170875">
                  <a:extLst>
                    <a:ext uri="{9D8B030D-6E8A-4147-A177-3AD203B41FA5}">
                      <a16:colId xmlns:a16="http://schemas.microsoft.com/office/drawing/2014/main" val="20001"/>
                    </a:ext>
                  </a:extLst>
                </a:gridCol>
                <a:gridCol w="1230378">
                  <a:extLst>
                    <a:ext uri="{9D8B030D-6E8A-4147-A177-3AD203B41FA5}">
                      <a16:colId xmlns:a16="http://schemas.microsoft.com/office/drawing/2014/main" val="20002"/>
                    </a:ext>
                  </a:extLst>
                </a:gridCol>
                <a:gridCol w="1175437">
                  <a:extLst>
                    <a:ext uri="{9D8B030D-6E8A-4147-A177-3AD203B41FA5}">
                      <a16:colId xmlns:a16="http://schemas.microsoft.com/office/drawing/2014/main" val="20003"/>
                    </a:ext>
                  </a:extLst>
                </a:gridCol>
              </a:tblGrid>
              <a:tr h="228600">
                <a:tc>
                  <a:txBody>
                    <a:bodyPr/>
                    <a:lstStyle/>
                    <a:p>
                      <a:pPr marL="0" marR="0" lvl="0" indent="0" algn="just" rtl="0">
                        <a:lnSpc>
                          <a:spcPct val="107000"/>
                        </a:lnSpc>
                        <a:spcBef>
                          <a:spcPts val="0"/>
                        </a:spcBef>
                        <a:spcAft>
                          <a:spcPts val="0"/>
                        </a:spcAft>
                        <a:buNone/>
                      </a:pPr>
                      <a:r>
                        <a:rPr lang="en-US" sz="1600" b="0" u="none" strike="noStrike" cap="none">
                          <a:latin typeface="Gill Sans"/>
                          <a:ea typeface="Gill Sans"/>
                          <a:cs typeface="Gill Sans"/>
                          <a:sym typeface="Gill Sans"/>
                        </a:rPr>
                        <a:t>Crop</a:t>
                      </a:r>
                      <a:endParaRPr sz="1600" b="0" u="none" strike="noStrike" cap="none">
                        <a:latin typeface="Gill Sans"/>
                        <a:ea typeface="Gill Sans"/>
                        <a:cs typeface="Gill Sans"/>
                        <a:sym typeface="Gill Sans"/>
                      </a:endParaRPr>
                    </a:p>
                  </a:txBody>
                  <a:tcPr marL="68575" marR="68575" marT="0" marB="0">
                    <a:solidFill>
                      <a:srgbClr val="00B050"/>
                    </a:solidFill>
                  </a:tcPr>
                </a:tc>
                <a:tc>
                  <a:txBody>
                    <a:bodyPr/>
                    <a:lstStyle/>
                    <a:p>
                      <a:pPr marL="0" marR="0" lvl="0" indent="0" algn="just" rtl="0">
                        <a:lnSpc>
                          <a:spcPct val="107000"/>
                        </a:lnSpc>
                        <a:spcBef>
                          <a:spcPts val="0"/>
                        </a:spcBef>
                        <a:spcAft>
                          <a:spcPts val="0"/>
                        </a:spcAft>
                        <a:buNone/>
                      </a:pPr>
                      <a:r>
                        <a:rPr lang="en-US" sz="1600" b="0" u="none" strike="noStrike" cap="none" dirty="0">
                          <a:latin typeface="Gill Sans"/>
                          <a:ea typeface="Gill Sans"/>
                          <a:cs typeface="Gill Sans"/>
                          <a:sym typeface="Gill Sans"/>
                        </a:rPr>
                        <a:t>Male Farmers</a:t>
                      </a:r>
                      <a:endParaRPr sz="1600" b="0" u="none" strike="noStrike" cap="none" dirty="0">
                        <a:latin typeface="Gill Sans"/>
                        <a:ea typeface="Gill Sans"/>
                        <a:cs typeface="Gill Sans"/>
                        <a:sym typeface="Gill Sans"/>
                      </a:endParaRPr>
                    </a:p>
                  </a:txBody>
                  <a:tcPr marL="68575" marR="68575" marT="0" marB="0">
                    <a:solidFill>
                      <a:srgbClr val="00B050"/>
                    </a:solidFill>
                  </a:tcPr>
                </a:tc>
                <a:tc>
                  <a:txBody>
                    <a:bodyPr/>
                    <a:lstStyle/>
                    <a:p>
                      <a:pPr marL="0" marR="0" lvl="0" indent="0" algn="just" rtl="0">
                        <a:lnSpc>
                          <a:spcPct val="107000"/>
                        </a:lnSpc>
                        <a:spcBef>
                          <a:spcPts val="0"/>
                        </a:spcBef>
                        <a:spcAft>
                          <a:spcPts val="0"/>
                        </a:spcAft>
                        <a:buNone/>
                      </a:pPr>
                      <a:r>
                        <a:rPr lang="en-US" sz="1600" b="0" u="none" strike="noStrike" cap="none">
                          <a:latin typeface="Gill Sans"/>
                          <a:ea typeface="Gill Sans"/>
                          <a:cs typeface="Gill Sans"/>
                          <a:sym typeface="Gill Sans"/>
                        </a:rPr>
                        <a:t>Female Farmers</a:t>
                      </a:r>
                      <a:endParaRPr sz="1600" b="0" u="none" strike="noStrike" cap="none">
                        <a:latin typeface="Gill Sans"/>
                        <a:ea typeface="Gill Sans"/>
                        <a:cs typeface="Gill Sans"/>
                        <a:sym typeface="Gill Sans"/>
                      </a:endParaRPr>
                    </a:p>
                  </a:txBody>
                  <a:tcPr marL="68575" marR="68575" marT="0" marB="0">
                    <a:solidFill>
                      <a:srgbClr val="00B050"/>
                    </a:solidFill>
                  </a:tcPr>
                </a:tc>
                <a:tc>
                  <a:txBody>
                    <a:bodyPr/>
                    <a:lstStyle/>
                    <a:p>
                      <a:pPr marL="0" marR="0" lvl="0" indent="0" algn="just" rtl="0">
                        <a:lnSpc>
                          <a:spcPct val="107000"/>
                        </a:lnSpc>
                        <a:spcBef>
                          <a:spcPts val="0"/>
                        </a:spcBef>
                        <a:spcAft>
                          <a:spcPts val="0"/>
                        </a:spcAft>
                        <a:buNone/>
                      </a:pPr>
                      <a:r>
                        <a:rPr lang="en-US" sz="1600" b="0" u="none" strike="noStrike" cap="none" dirty="0">
                          <a:latin typeface="Gill Sans"/>
                          <a:ea typeface="Gill Sans"/>
                          <a:cs typeface="Gill Sans"/>
                          <a:sym typeface="Gill Sans"/>
                        </a:rPr>
                        <a:t>Total Farmers</a:t>
                      </a:r>
                      <a:endParaRPr sz="1600" b="0" u="none" strike="noStrike" cap="none" dirty="0">
                        <a:latin typeface="Gill Sans"/>
                        <a:ea typeface="Gill Sans"/>
                        <a:cs typeface="Gill Sans"/>
                        <a:sym typeface="Gill Sans"/>
                      </a:endParaRPr>
                    </a:p>
                  </a:txBody>
                  <a:tcPr marL="68575" marR="68575" marT="0" marB="0">
                    <a:solidFill>
                      <a:srgbClr val="00B050"/>
                    </a:solidFill>
                  </a:tcPr>
                </a:tc>
                <a:extLst>
                  <a:ext uri="{0D108BD9-81ED-4DB2-BD59-A6C34878D82A}">
                    <a16:rowId xmlns:a16="http://schemas.microsoft.com/office/drawing/2014/main" val="10000"/>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Maize</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40</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30</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70</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1"/>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Cassava</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45</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27</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72</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2"/>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Rice</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13</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10</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23</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3"/>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Beans</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23</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13</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36</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4"/>
                  </a:ext>
                </a:extLst>
              </a:tr>
              <a:tr h="228600">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Soya Bean</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9</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2</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11</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5"/>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Sweet Potatoes</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17</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12</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29</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6"/>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Coffee</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9</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2</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11</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7"/>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Red Chili</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7</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4</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11</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8"/>
                  </a:ext>
                </a:extLst>
              </a:tr>
              <a:tr h="228600">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Others</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21</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a:latin typeface="Gill Sans"/>
                          <a:ea typeface="Gill Sans"/>
                          <a:cs typeface="Gill Sans"/>
                          <a:sym typeface="Gill Sans"/>
                        </a:rPr>
                        <a:t>11</a:t>
                      </a:r>
                      <a:endParaRPr sz="1600" u="none" strike="noStrike" cap="none">
                        <a:latin typeface="Gill Sans"/>
                        <a:ea typeface="Gill Sans"/>
                        <a:cs typeface="Gill Sans"/>
                        <a:sym typeface="Gill Sans"/>
                      </a:endParaRPr>
                    </a:p>
                  </a:txBody>
                  <a:tcPr marL="68575" marR="68575" marT="0" marB="0"/>
                </a:tc>
                <a:tc>
                  <a:txBody>
                    <a:bodyPr/>
                    <a:lstStyle/>
                    <a:p>
                      <a:pPr marL="0" marR="0" lvl="0" indent="0" algn="just" rtl="0">
                        <a:lnSpc>
                          <a:spcPct val="107000"/>
                        </a:lnSpc>
                        <a:spcBef>
                          <a:spcPts val="0"/>
                        </a:spcBef>
                        <a:spcAft>
                          <a:spcPts val="0"/>
                        </a:spcAft>
                        <a:buNone/>
                      </a:pPr>
                      <a:r>
                        <a:rPr lang="en-US" sz="1600" u="none" strike="noStrike" cap="none" dirty="0">
                          <a:latin typeface="Gill Sans"/>
                          <a:ea typeface="Gill Sans"/>
                          <a:cs typeface="Gill Sans"/>
                          <a:sym typeface="Gill Sans"/>
                        </a:rPr>
                        <a:t>32</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9"/>
                  </a:ext>
                </a:extLst>
              </a:tr>
            </a:tbl>
          </a:graphicData>
        </a:graphic>
      </p:graphicFrame>
      <p:graphicFrame>
        <p:nvGraphicFramePr>
          <p:cNvPr id="2" name="Google Shape;705;p17">
            <a:extLst>
              <a:ext uri="{FF2B5EF4-FFF2-40B4-BE49-F238E27FC236}">
                <a16:creationId xmlns:a16="http://schemas.microsoft.com/office/drawing/2014/main" id="{E8B022DC-B3D4-5C2E-656B-2E47E19C9FC3}"/>
              </a:ext>
            </a:extLst>
          </p:cNvPr>
          <p:cNvGraphicFramePr/>
          <p:nvPr>
            <p:extLst>
              <p:ext uri="{D42A27DB-BD31-4B8C-83A1-F6EECF244321}">
                <p14:modId xmlns:p14="http://schemas.microsoft.com/office/powerpoint/2010/main" val="1615453395"/>
              </p:ext>
            </p:extLst>
          </p:nvPr>
        </p:nvGraphicFramePr>
        <p:xfrm>
          <a:off x="852023" y="3682390"/>
          <a:ext cx="4965414" cy="1956816"/>
        </p:xfrm>
        <a:graphic>
          <a:graphicData uri="http://schemas.openxmlformats.org/drawingml/2006/table">
            <a:tbl>
              <a:tblPr firstRow="1" firstCol="1" bandRow="1">
                <a:noFill/>
              </a:tblPr>
              <a:tblGrid>
                <a:gridCol w="2661951">
                  <a:extLst>
                    <a:ext uri="{9D8B030D-6E8A-4147-A177-3AD203B41FA5}">
                      <a16:colId xmlns:a16="http://schemas.microsoft.com/office/drawing/2014/main" val="20000"/>
                    </a:ext>
                  </a:extLst>
                </a:gridCol>
                <a:gridCol w="2303463">
                  <a:extLst>
                    <a:ext uri="{9D8B030D-6E8A-4147-A177-3AD203B41FA5}">
                      <a16:colId xmlns:a16="http://schemas.microsoft.com/office/drawing/2014/main" val="20001"/>
                    </a:ext>
                  </a:extLst>
                </a:gridCol>
              </a:tblGrid>
              <a:tr h="213350">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Family Size Range</a:t>
                      </a:r>
                      <a:endParaRPr sz="1600" u="none" strike="noStrike" cap="none">
                        <a:latin typeface="Gill Sans"/>
                        <a:ea typeface="Gill Sans"/>
                        <a:cs typeface="Gill Sans"/>
                        <a:sym typeface="Gill Sans"/>
                      </a:endParaRPr>
                    </a:p>
                  </a:txBody>
                  <a:tcPr marL="68575" marR="68575" marT="0" marB="0">
                    <a:solidFill>
                      <a:srgbClr val="00B050"/>
                    </a:solidFill>
                  </a:tcPr>
                </a:tc>
                <a:tc>
                  <a:txBody>
                    <a:bodyPr/>
                    <a:lstStyle/>
                    <a:p>
                      <a:pPr marL="0" marR="0" lvl="0" indent="0" algn="l" rtl="0">
                        <a:lnSpc>
                          <a:spcPct val="107000"/>
                        </a:lnSpc>
                        <a:spcBef>
                          <a:spcPts val="0"/>
                        </a:spcBef>
                        <a:spcAft>
                          <a:spcPts val="0"/>
                        </a:spcAft>
                        <a:buNone/>
                      </a:pPr>
                      <a:r>
                        <a:rPr lang="en-US" sz="1600" u="none" strike="noStrike" cap="none" dirty="0">
                          <a:latin typeface="Gill Sans"/>
                          <a:ea typeface="Gill Sans"/>
                          <a:cs typeface="Gill Sans"/>
                          <a:sym typeface="Gill Sans"/>
                        </a:rPr>
                        <a:t>Number of participants</a:t>
                      </a:r>
                      <a:endParaRPr sz="1600" u="none" strike="noStrike" cap="none" dirty="0">
                        <a:latin typeface="Gill Sans"/>
                        <a:ea typeface="Gill Sans"/>
                        <a:cs typeface="Gill Sans"/>
                        <a:sym typeface="Gill Sans"/>
                      </a:endParaRPr>
                    </a:p>
                  </a:txBody>
                  <a:tcPr marL="68575" marR="68575" marT="0" marB="0">
                    <a:solidFill>
                      <a:srgbClr val="00B050"/>
                    </a:solidFill>
                  </a:tcPr>
                </a:tc>
                <a:extLst>
                  <a:ext uri="{0D108BD9-81ED-4DB2-BD59-A6C34878D82A}">
                    <a16:rowId xmlns:a16="http://schemas.microsoft.com/office/drawing/2014/main" val="10000"/>
                  </a:ext>
                </a:extLst>
              </a:tr>
              <a:tr h="222250">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NA</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7</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1"/>
                  </a:ext>
                </a:extLst>
              </a:tr>
              <a:tr h="213350">
                <a:tc>
                  <a:txBody>
                    <a:bodyPr/>
                    <a:lstStyle/>
                    <a:p>
                      <a:pPr marL="0" marR="0" lvl="0" indent="0" algn="l" rtl="0">
                        <a:lnSpc>
                          <a:spcPct val="107000"/>
                        </a:lnSpc>
                        <a:spcBef>
                          <a:spcPts val="0"/>
                        </a:spcBef>
                        <a:spcAft>
                          <a:spcPts val="0"/>
                        </a:spcAft>
                        <a:buNone/>
                      </a:pPr>
                      <a:r>
                        <a:rPr lang="en-US" sz="1600" u="none" strike="noStrike" cap="none" dirty="0">
                          <a:latin typeface="Gill Sans"/>
                          <a:ea typeface="Gill Sans"/>
                          <a:cs typeface="Gill Sans"/>
                          <a:sym typeface="Gill Sans"/>
                        </a:rPr>
                        <a:t>1-5</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l" rtl="0">
                        <a:lnSpc>
                          <a:spcPct val="107000"/>
                        </a:lnSpc>
                        <a:spcBef>
                          <a:spcPts val="0"/>
                        </a:spcBef>
                        <a:spcAft>
                          <a:spcPts val="0"/>
                        </a:spcAft>
                        <a:buNone/>
                      </a:pPr>
                      <a:r>
                        <a:rPr lang="en-US" sz="1600" u="none" strike="noStrike" cap="none" dirty="0">
                          <a:latin typeface="Gill Sans"/>
                          <a:ea typeface="Gill Sans"/>
                          <a:cs typeface="Gill Sans"/>
                          <a:sym typeface="Gill Sans"/>
                        </a:rPr>
                        <a:t>66</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2"/>
                  </a:ext>
                </a:extLst>
              </a:tr>
              <a:tr h="213350">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6-10</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7000"/>
                        </a:lnSpc>
                        <a:spcBef>
                          <a:spcPts val="0"/>
                        </a:spcBef>
                        <a:spcAft>
                          <a:spcPts val="0"/>
                        </a:spcAft>
                        <a:buNone/>
                      </a:pPr>
                      <a:r>
                        <a:rPr lang="en-US" sz="1600" u="none" strike="noStrike" cap="none" dirty="0">
                          <a:latin typeface="Gill Sans"/>
                          <a:ea typeface="Gill Sans"/>
                          <a:cs typeface="Gill Sans"/>
                          <a:sym typeface="Gill Sans"/>
                        </a:rPr>
                        <a:t>26</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3"/>
                  </a:ext>
                </a:extLst>
              </a:tr>
              <a:tr h="222250">
                <a:tc>
                  <a:txBody>
                    <a:bodyPr/>
                    <a:lstStyle/>
                    <a:p>
                      <a:pPr marL="0" marR="0" lvl="0" indent="0" algn="l" rtl="0">
                        <a:lnSpc>
                          <a:spcPct val="107000"/>
                        </a:lnSpc>
                        <a:spcBef>
                          <a:spcPts val="0"/>
                        </a:spcBef>
                        <a:spcAft>
                          <a:spcPts val="0"/>
                        </a:spcAft>
                        <a:buNone/>
                      </a:pPr>
                      <a:r>
                        <a:rPr lang="en-US" sz="1600" u="none" strike="noStrike" cap="none" dirty="0">
                          <a:latin typeface="Gill Sans"/>
                          <a:ea typeface="Gill Sans"/>
                          <a:cs typeface="Gill Sans"/>
                          <a:sym typeface="Gill Sans"/>
                        </a:rPr>
                        <a:t>11-15</a:t>
                      </a:r>
                      <a:endParaRPr sz="1600" u="none" strike="noStrike" cap="none" dirty="0">
                        <a:latin typeface="Gill Sans"/>
                        <a:ea typeface="Gill Sans"/>
                        <a:cs typeface="Gill Sans"/>
                        <a:sym typeface="Gill Sans"/>
                      </a:endParaRPr>
                    </a:p>
                  </a:txBody>
                  <a:tcPr marL="68575" marR="68575" marT="0" marB="0"/>
                </a:tc>
                <a:tc>
                  <a:txBody>
                    <a:bodyPr/>
                    <a:lstStyle/>
                    <a:p>
                      <a:pPr marL="0" marR="0" lvl="0" indent="0" algn="l" rtl="0">
                        <a:lnSpc>
                          <a:spcPct val="107000"/>
                        </a:lnSpc>
                        <a:spcBef>
                          <a:spcPts val="0"/>
                        </a:spcBef>
                        <a:spcAft>
                          <a:spcPts val="0"/>
                        </a:spcAft>
                        <a:buNone/>
                      </a:pPr>
                      <a:r>
                        <a:rPr lang="en-US" sz="1600" u="none" strike="noStrike" cap="none" dirty="0">
                          <a:latin typeface="Gill Sans"/>
                          <a:ea typeface="Gill Sans"/>
                          <a:cs typeface="Gill Sans"/>
                          <a:sym typeface="Gill Sans"/>
                        </a:rPr>
                        <a:t>4</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4"/>
                  </a:ext>
                </a:extLst>
              </a:tr>
              <a:tr h="213350">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16-20</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0</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5"/>
                  </a:ext>
                </a:extLst>
              </a:tr>
              <a:tr h="213350">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21-26</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2</a:t>
                      </a:r>
                      <a:endParaRPr sz="1600" u="none" strike="noStrike" cap="none">
                        <a:latin typeface="Gill Sans"/>
                        <a:ea typeface="Gill Sans"/>
                        <a:cs typeface="Gill Sans"/>
                        <a:sym typeface="Gill Sans"/>
                      </a:endParaRPr>
                    </a:p>
                  </a:txBody>
                  <a:tcPr marL="68575" marR="68575" marT="0" marB="0"/>
                </a:tc>
                <a:extLst>
                  <a:ext uri="{0D108BD9-81ED-4DB2-BD59-A6C34878D82A}">
                    <a16:rowId xmlns:a16="http://schemas.microsoft.com/office/drawing/2014/main" val="10006"/>
                  </a:ext>
                </a:extLst>
              </a:tr>
              <a:tr h="213350">
                <a:tc>
                  <a:txBody>
                    <a:bodyPr/>
                    <a:lstStyle/>
                    <a:p>
                      <a:pPr marL="0" marR="0" lvl="0" indent="0" algn="l" rtl="0">
                        <a:lnSpc>
                          <a:spcPct val="107000"/>
                        </a:lnSpc>
                        <a:spcBef>
                          <a:spcPts val="0"/>
                        </a:spcBef>
                        <a:spcAft>
                          <a:spcPts val="0"/>
                        </a:spcAft>
                        <a:buNone/>
                      </a:pPr>
                      <a:r>
                        <a:rPr lang="en-US" sz="1600" u="none" strike="noStrike" cap="none">
                          <a:latin typeface="Gill Sans"/>
                          <a:ea typeface="Gill Sans"/>
                          <a:cs typeface="Gill Sans"/>
                          <a:sym typeface="Gill Sans"/>
                        </a:rPr>
                        <a:t>Total</a:t>
                      </a:r>
                      <a:endParaRPr sz="1600" u="none" strike="noStrike" cap="none">
                        <a:latin typeface="Gill Sans"/>
                        <a:ea typeface="Gill Sans"/>
                        <a:cs typeface="Gill Sans"/>
                        <a:sym typeface="Gill Sans"/>
                      </a:endParaRPr>
                    </a:p>
                  </a:txBody>
                  <a:tcPr marL="68575" marR="68575" marT="0" marB="0"/>
                </a:tc>
                <a:tc>
                  <a:txBody>
                    <a:bodyPr/>
                    <a:lstStyle/>
                    <a:p>
                      <a:pPr marL="0" marR="0" lvl="0" indent="0" algn="l" rtl="0">
                        <a:lnSpc>
                          <a:spcPct val="107000"/>
                        </a:lnSpc>
                        <a:spcBef>
                          <a:spcPts val="0"/>
                        </a:spcBef>
                        <a:spcAft>
                          <a:spcPts val="0"/>
                        </a:spcAft>
                        <a:buNone/>
                      </a:pPr>
                      <a:r>
                        <a:rPr lang="en-US" sz="1600" u="none" strike="noStrike" cap="none" dirty="0">
                          <a:latin typeface="Gill Sans"/>
                          <a:ea typeface="Gill Sans"/>
                          <a:cs typeface="Gill Sans"/>
                          <a:sym typeface="Gill Sans"/>
                        </a:rPr>
                        <a:t>105</a:t>
                      </a:r>
                      <a:endParaRPr sz="1600" u="none" strike="noStrike" cap="none" dirty="0">
                        <a:latin typeface="Gill Sans"/>
                        <a:ea typeface="Gill Sans"/>
                        <a:cs typeface="Gill Sans"/>
                        <a:sym typeface="Gill Sans"/>
                      </a:endParaRPr>
                    </a:p>
                  </a:txBody>
                  <a:tcPr marL="68575" marR="68575" marT="0" marB="0"/>
                </a:tc>
                <a:extLst>
                  <a:ext uri="{0D108BD9-81ED-4DB2-BD59-A6C34878D82A}">
                    <a16:rowId xmlns:a16="http://schemas.microsoft.com/office/drawing/2014/main" val="10007"/>
                  </a:ext>
                </a:extLst>
              </a:tr>
            </a:tbl>
          </a:graphicData>
        </a:graphic>
      </p:graphicFrame>
      <p:sp>
        <p:nvSpPr>
          <p:cNvPr id="3" name="Google Shape;702;p17">
            <a:extLst>
              <a:ext uri="{FF2B5EF4-FFF2-40B4-BE49-F238E27FC236}">
                <a16:creationId xmlns:a16="http://schemas.microsoft.com/office/drawing/2014/main" id="{41CD9432-CD09-63CD-6179-3BB195E4EA26}"/>
              </a:ext>
            </a:extLst>
          </p:cNvPr>
          <p:cNvSpPr txBox="1"/>
          <p:nvPr/>
        </p:nvSpPr>
        <p:spPr>
          <a:xfrm>
            <a:off x="847797" y="3190331"/>
            <a:ext cx="3323761" cy="307736"/>
          </a:xfrm>
          <a:prstGeom prst="rect">
            <a:avLst/>
          </a:prstGeom>
          <a:noFill/>
          <a:ln>
            <a:noFill/>
          </a:ln>
        </p:spPr>
        <p:txBody>
          <a:bodyPr spcFirstLastPara="1" wrap="square" lIns="91425" tIns="45700" rIns="91425" bIns="45700" anchor="t" anchorCtr="0">
            <a:spAutoFit/>
          </a:bodyPr>
          <a:lstStyle/>
          <a:p>
            <a:pPr marL="114300" marR="0" lvl="0" indent="0" algn="just" rtl="0">
              <a:lnSpc>
                <a:spcPct val="100000"/>
              </a:lnSpc>
              <a:spcBef>
                <a:spcPts val="0"/>
              </a:spcBef>
              <a:spcAft>
                <a:spcPts val="0"/>
              </a:spcAft>
              <a:buClr>
                <a:srgbClr val="000000"/>
              </a:buClr>
              <a:buSzPts val="1600"/>
              <a:buFont typeface="Arial"/>
              <a:buNone/>
            </a:pPr>
            <a:r>
              <a:rPr lang="en-US" sz="1400" b="1" i="0" u="none" strike="noStrike" cap="none" dirty="0">
                <a:solidFill>
                  <a:srgbClr val="000000"/>
                </a:solidFill>
                <a:latin typeface="Gill Sans"/>
                <a:ea typeface="Gill Sans"/>
                <a:cs typeface="Gill Sans"/>
                <a:sym typeface="Gill Sans"/>
              </a:rPr>
              <a:t>Table :  Members’ Family Size</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1">
          <a:extLst>
            <a:ext uri="{FF2B5EF4-FFF2-40B4-BE49-F238E27FC236}">
              <a16:creationId xmlns:a16="http://schemas.microsoft.com/office/drawing/2014/main" id="{A4996032-29DB-B2EA-C709-056399EEEA68}"/>
            </a:ext>
          </a:extLst>
        </p:cNvPr>
        <p:cNvGrpSpPr/>
        <p:nvPr/>
      </p:nvGrpSpPr>
      <p:grpSpPr>
        <a:xfrm>
          <a:off x="0" y="0"/>
          <a:ext cx="0" cy="0"/>
          <a:chOff x="0" y="0"/>
          <a:chExt cx="0" cy="0"/>
        </a:xfrm>
      </p:grpSpPr>
      <p:sp>
        <p:nvSpPr>
          <p:cNvPr id="683" name="Google Shape;683;p107">
            <a:extLst>
              <a:ext uri="{FF2B5EF4-FFF2-40B4-BE49-F238E27FC236}">
                <a16:creationId xmlns:a16="http://schemas.microsoft.com/office/drawing/2014/main" id="{91D50570-C098-18E0-0C22-448D284C1138}"/>
              </a:ext>
            </a:extLst>
          </p:cNvPr>
          <p:cNvSpPr txBox="1">
            <a:spLocks noGrp="1"/>
          </p:cNvSpPr>
          <p:nvPr>
            <p:ph type="title"/>
          </p:nvPr>
        </p:nvSpPr>
        <p:spPr>
          <a:xfrm>
            <a:off x="660296" y="282274"/>
            <a:ext cx="11418815" cy="517061"/>
          </a:xfrm>
          <a:prstGeom prst="rect">
            <a:avLst/>
          </a:prstGeom>
          <a:noFill/>
          <a:ln>
            <a:noFill/>
          </a:ln>
        </p:spPr>
        <p:txBody>
          <a:bodyPr spcFirstLastPara="1" wrap="square" lIns="91425" tIns="91425" rIns="91425" bIns="91425" anchor="t" anchorCtr="0">
            <a:noAutofit/>
          </a:bodyPr>
          <a:lstStyle/>
          <a:p>
            <a:pPr marL="0" lvl="0" indent="0" rtl="0">
              <a:lnSpc>
                <a:spcPct val="100000"/>
              </a:lnSpc>
              <a:spcBef>
                <a:spcPts val="600"/>
              </a:spcBef>
              <a:spcAft>
                <a:spcPts val="600"/>
              </a:spcAft>
              <a:buSzPts val="1400"/>
              <a:buNone/>
            </a:pPr>
            <a:r>
              <a:rPr lang="en-US" sz="1800" b="1" dirty="0">
                <a:solidFill>
                  <a:srgbClr val="1A654C"/>
                </a:solidFill>
                <a:latin typeface="Gill Sans MT" panose="020B0502020104020203" pitchFamily="34" charset="77"/>
                <a:ea typeface="Work Sans"/>
                <a:cs typeface="Work Sans"/>
                <a:sym typeface="Work Sans"/>
              </a:rPr>
              <a:t>Sample analysis of individual cooperative members’ location, age distribution, gender, animal breeds</a:t>
            </a:r>
            <a:endParaRPr sz="1800" b="1" dirty="0">
              <a:solidFill>
                <a:srgbClr val="1A654C"/>
              </a:solidFill>
              <a:latin typeface="Gill Sans MT" panose="020B0502020104020203" pitchFamily="34" charset="77"/>
              <a:ea typeface="Work Sans"/>
              <a:cs typeface="Work Sans"/>
              <a:sym typeface="Work Sans"/>
            </a:endParaRPr>
          </a:p>
        </p:txBody>
      </p:sp>
      <p:grpSp>
        <p:nvGrpSpPr>
          <p:cNvPr id="684" name="Google Shape;684;p107">
            <a:extLst>
              <a:ext uri="{FF2B5EF4-FFF2-40B4-BE49-F238E27FC236}">
                <a16:creationId xmlns:a16="http://schemas.microsoft.com/office/drawing/2014/main" id="{2FD1820B-3894-06D8-12AE-2C439264E1DF}"/>
              </a:ext>
            </a:extLst>
          </p:cNvPr>
          <p:cNvGrpSpPr/>
          <p:nvPr/>
        </p:nvGrpSpPr>
        <p:grpSpPr>
          <a:xfrm>
            <a:off x="-125" y="0"/>
            <a:ext cx="1009775" cy="158700"/>
            <a:chOff x="-125" y="0"/>
            <a:chExt cx="1009775" cy="158700"/>
          </a:xfrm>
        </p:grpSpPr>
        <p:sp>
          <p:nvSpPr>
            <p:cNvPr id="685" name="Google Shape;685;p107">
              <a:extLst>
                <a:ext uri="{FF2B5EF4-FFF2-40B4-BE49-F238E27FC236}">
                  <a16:creationId xmlns:a16="http://schemas.microsoft.com/office/drawing/2014/main" id="{F5F0B1F4-7F0F-1C3B-F334-43A9F63C4567}"/>
                </a:ext>
              </a:extLst>
            </p:cNvPr>
            <p:cNvSpPr/>
            <p:nvPr/>
          </p:nvSpPr>
          <p:spPr>
            <a:xfrm rot="5400000">
              <a:off x="275125" y="-275250"/>
              <a:ext cx="158700" cy="709200"/>
            </a:xfrm>
            <a:prstGeom prst="rect">
              <a:avLst/>
            </a:prstGeom>
            <a:solidFill>
              <a:srgbClr val="98000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Work Sans"/>
                <a:ea typeface="Work Sans"/>
                <a:cs typeface="Work Sans"/>
                <a:sym typeface="Work Sans"/>
              </a:endParaRPr>
            </a:p>
          </p:txBody>
        </p:sp>
        <p:sp>
          <p:nvSpPr>
            <p:cNvPr id="686" name="Google Shape;686;p107">
              <a:extLst>
                <a:ext uri="{FF2B5EF4-FFF2-40B4-BE49-F238E27FC236}">
                  <a16:creationId xmlns:a16="http://schemas.microsoft.com/office/drawing/2014/main" id="{D4D51DB3-472B-089C-EE05-3EDF58E0A30B}"/>
                </a:ext>
              </a:extLst>
            </p:cNvPr>
            <p:cNvSpPr/>
            <p:nvPr/>
          </p:nvSpPr>
          <p:spPr>
            <a:xfrm rot="5400000">
              <a:off x="768450" y="-82500"/>
              <a:ext cx="158700" cy="3237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Work Sans"/>
                <a:ea typeface="Work Sans"/>
                <a:cs typeface="Work Sans"/>
                <a:sym typeface="Work Sans"/>
              </a:endParaRPr>
            </a:p>
          </p:txBody>
        </p:sp>
      </p:grpSp>
      <p:pic>
        <p:nvPicPr>
          <p:cNvPr id="4" name="Google Shape;512;p101">
            <a:extLst>
              <a:ext uri="{FF2B5EF4-FFF2-40B4-BE49-F238E27FC236}">
                <a16:creationId xmlns:a16="http://schemas.microsoft.com/office/drawing/2014/main" id="{E92F08C8-CFF6-9440-8079-E68FE86442CD}"/>
              </a:ext>
            </a:extLst>
          </p:cNvPr>
          <p:cNvPicPr preferRelativeResize="0"/>
          <p:nvPr/>
        </p:nvPicPr>
        <p:blipFill rotWithShape="1">
          <a:blip r:embed="rId3">
            <a:alphaModFix/>
          </a:blip>
          <a:srcRect t="6102"/>
          <a:stretch/>
        </p:blipFill>
        <p:spPr>
          <a:xfrm>
            <a:off x="5881511" y="922909"/>
            <a:ext cx="5915377" cy="2587935"/>
          </a:xfrm>
          <a:prstGeom prst="rect">
            <a:avLst/>
          </a:prstGeom>
          <a:noFill/>
          <a:ln>
            <a:noFill/>
          </a:ln>
        </p:spPr>
      </p:pic>
      <p:pic>
        <p:nvPicPr>
          <p:cNvPr id="5" name="Google Shape;601;g31196028f46_1_14">
            <a:extLst>
              <a:ext uri="{FF2B5EF4-FFF2-40B4-BE49-F238E27FC236}">
                <a16:creationId xmlns:a16="http://schemas.microsoft.com/office/drawing/2014/main" id="{855F4F9C-3F43-EAF0-4F06-DF5089905058}"/>
              </a:ext>
            </a:extLst>
          </p:cNvPr>
          <p:cNvPicPr preferRelativeResize="0"/>
          <p:nvPr/>
        </p:nvPicPr>
        <p:blipFill>
          <a:blip r:embed="rId4">
            <a:alphaModFix/>
          </a:blip>
          <a:stretch>
            <a:fillRect/>
          </a:stretch>
        </p:blipFill>
        <p:spPr>
          <a:xfrm>
            <a:off x="847800" y="922909"/>
            <a:ext cx="4774325" cy="2305161"/>
          </a:xfrm>
          <a:prstGeom prst="rect">
            <a:avLst/>
          </a:prstGeom>
          <a:noFill/>
          <a:ln>
            <a:noFill/>
          </a:ln>
        </p:spPr>
      </p:pic>
      <p:graphicFrame>
        <p:nvGraphicFramePr>
          <p:cNvPr id="6" name="Google Shape;600;g31196028f46_1_14">
            <a:extLst>
              <a:ext uri="{FF2B5EF4-FFF2-40B4-BE49-F238E27FC236}">
                <a16:creationId xmlns:a16="http://schemas.microsoft.com/office/drawing/2014/main" id="{D0691159-FA41-C727-5C95-D0AAB63EB475}"/>
              </a:ext>
            </a:extLst>
          </p:cNvPr>
          <p:cNvGraphicFramePr/>
          <p:nvPr>
            <p:extLst>
              <p:ext uri="{D42A27DB-BD31-4B8C-83A1-F6EECF244321}">
                <p14:modId xmlns:p14="http://schemas.microsoft.com/office/powerpoint/2010/main" val="2287404015"/>
              </p:ext>
            </p:extLst>
          </p:nvPr>
        </p:nvGraphicFramePr>
        <p:xfrm>
          <a:off x="847800" y="3591304"/>
          <a:ext cx="3464556" cy="2348370"/>
        </p:xfrm>
        <a:graphic>
          <a:graphicData uri="http://schemas.openxmlformats.org/drawingml/2006/table">
            <a:tbl>
              <a:tblPr>
                <a:noFill/>
              </a:tblPr>
              <a:tblGrid>
                <a:gridCol w="2076022">
                  <a:extLst>
                    <a:ext uri="{9D8B030D-6E8A-4147-A177-3AD203B41FA5}">
                      <a16:colId xmlns:a16="http://schemas.microsoft.com/office/drawing/2014/main" val="20000"/>
                    </a:ext>
                  </a:extLst>
                </a:gridCol>
                <a:gridCol w="1388534">
                  <a:extLst>
                    <a:ext uri="{9D8B030D-6E8A-4147-A177-3AD203B41FA5}">
                      <a16:colId xmlns:a16="http://schemas.microsoft.com/office/drawing/2014/main" val="20001"/>
                    </a:ext>
                  </a:extLst>
                </a:gridCol>
              </a:tblGrid>
              <a:tr h="434700">
                <a:tc>
                  <a:txBody>
                    <a:bodyPr/>
                    <a:lstStyle/>
                    <a:p>
                      <a:pPr marL="0" lvl="0" indent="0" algn="l" rtl="0">
                        <a:spcBef>
                          <a:spcPts val="0"/>
                        </a:spcBef>
                        <a:spcAft>
                          <a:spcPts val="0"/>
                        </a:spcAft>
                        <a:buNone/>
                      </a:pPr>
                      <a:r>
                        <a:rPr lang="en-US" sz="1400" b="1">
                          <a:latin typeface="Gill Sans"/>
                          <a:ea typeface="Gill Sans"/>
                          <a:cs typeface="Gill Sans"/>
                          <a:sym typeface="Gill Sans"/>
                        </a:rPr>
                        <a:t>Sub County</a:t>
                      </a:r>
                      <a:endParaRPr sz="1400" b="1">
                        <a:latin typeface="Gill Sans"/>
                        <a:ea typeface="Gill Sans"/>
                        <a:cs typeface="Gill Sans"/>
                        <a:sym typeface="Gill Sans"/>
                      </a:endParaRPr>
                    </a:p>
                  </a:txBody>
                  <a:tcPr marL="91425" marR="91425" marT="91425" marB="91425"/>
                </a:tc>
                <a:tc>
                  <a:txBody>
                    <a:bodyPr/>
                    <a:lstStyle/>
                    <a:p>
                      <a:pPr marL="0" lvl="0" indent="0" algn="l" rtl="0">
                        <a:spcBef>
                          <a:spcPts val="0"/>
                        </a:spcBef>
                        <a:spcAft>
                          <a:spcPts val="0"/>
                        </a:spcAft>
                        <a:buNone/>
                      </a:pPr>
                      <a:r>
                        <a:rPr lang="en-US" sz="1400" b="1" dirty="0">
                          <a:latin typeface="Gill Sans"/>
                          <a:ea typeface="Gill Sans"/>
                          <a:cs typeface="Gill Sans"/>
                          <a:sym typeface="Gill Sans"/>
                        </a:rPr>
                        <a:t>Membership Count</a:t>
                      </a:r>
                      <a:endParaRPr sz="1400" b="1" dirty="0">
                        <a:latin typeface="Gill Sans"/>
                        <a:ea typeface="Gill Sans"/>
                        <a:cs typeface="Gill Sans"/>
                        <a:sym typeface="Gill Sans"/>
                      </a:endParaRPr>
                    </a:p>
                  </a:txBody>
                  <a:tcPr marL="91425" marR="91425" marT="91425" marB="91425"/>
                </a:tc>
                <a:extLst>
                  <a:ext uri="{0D108BD9-81ED-4DB2-BD59-A6C34878D82A}">
                    <a16:rowId xmlns:a16="http://schemas.microsoft.com/office/drawing/2014/main" val="10000"/>
                  </a:ext>
                </a:extLst>
              </a:tr>
              <a:tr h="434700">
                <a:tc>
                  <a:txBody>
                    <a:bodyPr/>
                    <a:lstStyle/>
                    <a:p>
                      <a:pPr marL="0" lvl="0" indent="0" algn="l" rtl="0">
                        <a:spcBef>
                          <a:spcPts val="0"/>
                        </a:spcBef>
                        <a:spcAft>
                          <a:spcPts val="0"/>
                        </a:spcAft>
                        <a:buNone/>
                      </a:pPr>
                      <a:r>
                        <a:rPr lang="en-US" sz="1400">
                          <a:latin typeface="Gill Sans"/>
                          <a:ea typeface="Gill Sans"/>
                          <a:cs typeface="Gill Sans"/>
                          <a:sym typeface="Gill Sans"/>
                        </a:rPr>
                        <a:t>Buyende</a:t>
                      </a:r>
                      <a:endParaRPr sz="1400">
                        <a:latin typeface="Gill Sans"/>
                        <a:ea typeface="Gill Sans"/>
                        <a:cs typeface="Gill Sans"/>
                        <a:sym typeface="Gill Sans"/>
                      </a:endParaRPr>
                    </a:p>
                  </a:txBody>
                  <a:tcPr marL="91425" marR="91425" marT="91425" marB="91425"/>
                </a:tc>
                <a:tc>
                  <a:txBody>
                    <a:bodyPr/>
                    <a:lstStyle/>
                    <a:p>
                      <a:pPr marL="0" lvl="0" indent="0" algn="l" rtl="0">
                        <a:spcBef>
                          <a:spcPts val="0"/>
                        </a:spcBef>
                        <a:spcAft>
                          <a:spcPts val="0"/>
                        </a:spcAft>
                        <a:buNone/>
                      </a:pPr>
                      <a:r>
                        <a:rPr lang="en-US" sz="1400" dirty="0">
                          <a:latin typeface="Gill Sans"/>
                          <a:ea typeface="Gill Sans"/>
                          <a:cs typeface="Gill Sans"/>
                          <a:sym typeface="Gill Sans"/>
                        </a:rPr>
                        <a:t>25</a:t>
                      </a:r>
                      <a:endParaRPr sz="1400" dirty="0">
                        <a:latin typeface="Gill Sans"/>
                        <a:ea typeface="Gill Sans"/>
                        <a:cs typeface="Gill Sans"/>
                        <a:sym typeface="Gill Sans"/>
                      </a:endParaRPr>
                    </a:p>
                  </a:txBody>
                  <a:tcPr marL="91425" marR="91425" marT="91425" marB="91425"/>
                </a:tc>
                <a:extLst>
                  <a:ext uri="{0D108BD9-81ED-4DB2-BD59-A6C34878D82A}">
                    <a16:rowId xmlns:a16="http://schemas.microsoft.com/office/drawing/2014/main" val="10001"/>
                  </a:ext>
                </a:extLst>
              </a:tr>
              <a:tr h="434700">
                <a:tc>
                  <a:txBody>
                    <a:bodyPr/>
                    <a:lstStyle/>
                    <a:p>
                      <a:pPr marL="0" lvl="0" indent="0" algn="l" rtl="0">
                        <a:spcBef>
                          <a:spcPts val="0"/>
                        </a:spcBef>
                        <a:spcAft>
                          <a:spcPts val="0"/>
                        </a:spcAft>
                        <a:buNone/>
                      </a:pPr>
                      <a:r>
                        <a:rPr lang="en-US" sz="1400" dirty="0">
                          <a:latin typeface="Gill Sans"/>
                          <a:ea typeface="Gill Sans"/>
                          <a:cs typeface="Gill Sans"/>
                          <a:sym typeface="Gill Sans"/>
                        </a:rPr>
                        <a:t>Buyende Town Council</a:t>
                      </a:r>
                      <a:endParaRPr sz="1400" dirty="0">
                        <a:latin typeface="Gill Sans"/>
                        <a:ea typeface="Gill Sans"/>
                        <a:cs typeface="Gill Sans"/>
                        <a:sym typeface="Gill Sans"/>
                      </a:endParaRPr>
                    </a:p>
                  </a:txBody>
                  <a:tcPr marL="91425" marR="91425" marT="91425" marB="91425"/>
                </a:tc>
                <a:tc>
                  <a:txBody>
                    <a:bodyPr/>
                    <a:lstStyle/>
                    <a:p>
                      <a:pPr marL="0" lvl="0" indent="0" algn="l" rtl="0">
                        <a:spcBef>
                          <a:spcPts val="0"/>
                        </a:spcBef>
                        <a:spcAft>
                          <a:spcPts val="0"/>
                        </a:spcAft>
                        <a:buNone/>
                      </a:pPr>
                      <a:r>
                        <a:rPr lang="en-US" sz="1400">
                          <a:latin typeface="Gill Sans"/>
                          <a:ea typeface="Gill Sans"/>
                          <a:cs typeface="Gill Sans"/>
                          <a:sym typeface="Gill Sans"/>
                        </a:rPr>
                        <a:t>44</a:t>
                      </a:r>
                      <a:endParaRPr sz="1400">
                        <a:latin typeface="Gill Sans"/>
                        <a:ea typeface="Gill Sans"/>
                        <a:cs typeface="Gill Sans"/>
                        <a:sym typeface="Gill Sans"/>
                      </a:endParaRPr>
                    </a:p>
                  </a:txBody>
                  <a:tcPr marL="91425" marR="91425" marT="91425" marB="91425"/>
                </a:tc>
                <a:extLst>
                  <a:ext uri="{0D108BD9-81ED-4DB2-BD59-A6C34878D82A}">
                    <a16:rowId xmlns:a16="http://schemas.microsoft.com/office/drawing/2014/main" val="10002"/>
                  </a:ext>
                </a:extLst>
              </a:tr>
              <a:tr h="434700">
                <a:tc>
                  <a:txBody>
                    <a:bodyPr/>
                    <a:lstStyle/>
                    <a:p>
                      <a:pPr marL="0" lvl="0" indent="0" algn="l" rtl="0">
                        <a:spcBef>
                          <a:spcPts val="0"/>
                        </a:spcBef>
                        <a:spcAft>
                          <a:spcPts val="0"/>
                        </a:spcAft>
                        <a:buNone/>
                      </a:pPr>
                      <a:r>
                        <a:rPr lang="en-US" sz="1400">
                          <a:latin typeface="Gill Sans"/>
                          <a:ea typeface="Gill Sans"/>
                          <a:cs typeface="Gill Sans"/>
                          <a:sym typeface="Gill Sans"/>
                        </a:rPr>
                        <a:t>Bugaya</a:t>
                      </a:r>
                      <a:endParaRPr sz="1400">
                        <a:latin typeface="Gill Sans"/>
                        <a:ea typeface="Gill Sans"/>
                        <a:cs typeface="Gill Sans"/>
                        <a:sym typeface="Gill Sans"/>
                      </a:endParaRPr>
                    </a:p>
                  </a:txBody>
                  <a:tcPr marL="91425" marR="91425" marT="91425" marB="91425"/>
                </a:tc>
                <a:tc>
                  <a:txBody>
                    <a:bodyPr/>
                    <a:lstStyle/>
                    <a:p>
                      <a:pPr marL="0" lvl="0" indent="0" algn="l" rtl="0">
                        <a:spcBef>
                          <a:spcPts val="0"/>
                        </a:spcBef>
                        <a:spcAft>
                          <a:spcPts val="0"/>
                        </a:spcAft>
                        <a:buNone/>
                      </a:pPr>
                      <a:r>
                        <a:rPr lang="en-US" sz="1400">
                          <a:latin typeface="Gill Sans"/>
                          <a:ea typeface="Gill Sans"/>
                          <a:cs typeface="Gill Sans"/>
                          <a:sym typeface="Gill Sans"/>
                        </a:rPr>
                        <a:t>4</a:t>
                      </a:r>
                      <a:endParaRPr sz="1400">
                        <a:latin typeface="Gill Sans"/>
                        <a:ea typeface="Gill Sans"/>
                        <a:cs typeface="Gill Sans"/>
                        <a:sym typeface="Gill Sans"/>
                      </a:endParaRPr>
                    </a:p>
                  </a:txBody>
                  <a:tcPr marL="91425" marR="91425" marT="91425" marB="91425"/>
                </a:tc>
                <a:extLst>
                  <a:ext uri="{0D108BD9-81ED-4DB2-BD59-A6C34878D82A}">
                    <a16:rowId xmlns:a16="http://schemas.microsoft.com/office/drawing/2014/main" val="10003"/>
                  </a:ext>
                </a:extLst>
              </a:tr>
              <a:tr h="434700">
                <a:tc>
                  <a:txBody>
                    <a:bodyPr/>
                    <a:lstStyle/>
                    <a:p>
                      <a:pPr marL="0" lvl="0" indent="0" algn="l" rtl="0">
                        <a:spcBef>
                          <a:spcPts val="0"/>
                        </a:spcBef>
                        <a:spcAft>
                          <a:spcPts val="0"/>
                        </a:spcAft>
                        <a:buNone/>
                      </a:pPr>
                      <a:r>
                        <a:rPr lang="en-US" sz="1400">
                          <a:latin typeface="Gill Sans"/>
                          <a:ea typeface="Gill Sans"/>
                          <a:cs typeface="Gill Sans"/>
                          <a:sym typeface="Gill Sans"/>
                        </a:rPr>
                        <a:t>Nkondo</a:t>
                      </a:r>
                      <a:endParaRPr sz="1400">
                        <a:latin typeface="Gill Sans"/>
                        <a:ea typeface="Gill Sans"/>
                        <a:cs typeface="Gill Sans"/>
                        <a:sym typeface="Gill Sans"/>
                      </a:endParaRPr>
                    </a:p>
                  </a:txBody>
                  <a:tcPr marL="91425" marR="91425" marT="91425" marB="91425"/>
                </a:tc>
                <a:tc>
                  <a:txBody>
                    <a:bodyPr/>
                    <a:lstStyle/>
                    <a:p>
                      <a:pPr marL="0" lvl="0" indent="0" algn="l" rtl="0">
                        <a:spcBef>
                          <a:spcPts val="0"/>
                        </a:spcBef>
                        <a:spcAft>
                          <a:spcPts val="0"/>
                        </a:spcAft>
                        <a:buNone/>
                      </a:pPr>
                      <a:r>
                        <a:rPr lang="en-US" sz="1400" dirty="0">
                          <a:latin typeface="Gill Sans"/>
                          <a:ea typeface="Gill Sans"/>
                          <a:cs typeface="Gill Sans"/>
                          <a:sym typeface="Gill Sans"/>
                        </a:rPr>
                        <a:t>2</a:t>
                      </a:r>
                      <a:endParaRPr sz="1400" dirty="0">
                        <a:latin typeface="Gill Sans"/>
                        <a:ea typeface="Gill Sans"/>
                        <a:cs typeface="Gill Sans"/>
                        <a:sym typeface="Gill Sans"/>
                      </a:endParaRPr>
                    </a:p>
                  </a:txBody>
                  <a:tcPr marL="91425" marR="91425" marT="91425" marB="91425"/>
                </a:tc>
                <a:extLst>
                  <a:ext uri="{0D108BD9-81ED-4DB2-BD59-A6C34878D82A}">
                    <a16:rowId xmlns:a16="http://schemas.microsoft.com/office/drawing/2014/main" val="10004"/>
                  </a:ext>
                </a:extLst>
              </a:tr>
            </a:tbl>
          </a:graphicData>
        </a:graphic>
      </p:graphicFrame>
      <p:pic>
        <p:nvPicPr>
          <p:cNvPr id="7" name="Google Shape;637;g31196028f46_0_0">
            <a:extLst>
              <a:ext uri="{FF2B5EF4-FFF2-40B4-BE49-F238E27FC236}">
                <a16:creationId xmlns:a16="http://schemas.microsoft.com/office/drawing/2014/main" id="{629F7283-D08C-B45A-9934-0E4EE4B5DA9C}"/>
              </a:ext>
            </a:extLst>
          </p:cNvPr>
          <p:cNvPicPr preferRelativeResize="0"/>
          <p:nvPr/>
        </p:nvPicPr>
        <p:blipFill>
          <a:blip r:embed="rId5">
            <a:alphaModFix/>
          </a:blip>
          <a:srcRect t="3559"/>
          <a:stretch/>
        </p:blipFill>
        <p:spPr>
          <a:xfrm>
            <a:off x="4617154" y="3510844"/>
            <a:ext cx="7179734" cy="2725620"/>
          </a:xfrm>
          <a:prstGeom prst="rect">
            <a:avLst/>
          </a:prstGeom>
          <a:noFill/>
          <a:ln>
            <a:noFill/>
          </a:ln>
        </p:spPr>
      </p:pic>
    </p:spTree>
    <p:extLst>
      <p:ext uri="{BB962C8B-B14F-4D97-AF65-F5344CB8AC3E}">
        <p14:creationId xmlns:p14="http://schemas.microsoft.com/office/powerpoint/2010/main" val="2140270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0E8E77B-0232-AC39-3428-8FBB9C836FF9}"/>
              </a:ext>
            </a:extLst>
          </p:cNvPr>
          <p:cNvPicPr>
            <a:picLocks noGrp="1" noChangeAspect="1"/>
          </p:cNvPicPr>
          <p:nvPr>
            <p:ph idx="1"/>
          </p:nvPr>
        </p:nvPicPr>
        <p:blipFill>
          <a:blip r:embed="rId3"/>
          <a:stretch>
            <a:fillRect/>
          </a:stretch>
        </p:blipFill>
        <p:spPr>
          <a:xfrm>
            <a:off x="558800" y="959557"/>
            <a:ext cx="11074400" cy="5287392"/>
          </a:xfrm>
          <a:prstGeom prst="rect">
            <a:avLst/>
          </a:prstGeom>
        </p:spPr>
      </p:pic>
      <p:sp>
        <p:nvSpPr>
          <p:cNvPr id="5" name="TextBox 4">
            <a:extLst>
              <a:ext uri="{FF2B5EF4-FFF2-40B4-BE49-F238E27FC236}">
                <a16:creationId xmlns:a16="http://schemas.microsoft.com/office/drawing/2014/main" id="{FD356018-AE90-A2E1-8377-93C88421B93C}"/>
              </a:ext>
            </a:extLst>
          </p:cNvPr>
          <p:cNvSpPr txBox="1"/>
          <p:nvPr/>
        </p:nvSpPr>
        <p:spPr>
          <a:xfrm>
            <a:off x="579865" y="362697"/>
            <a:ext cx="11074399" cy="369332"/>
          </a:xfrm>
          <a:prstGeom prst="rect">
            <a:avLst/>
          </a:prstGeom>
          <a:noFill/>
        </p:spPr>
        <p:txBody>
          <a:bodyPr wrap="square">
            <a:spAutoFit/>
          </a:bodyPr>
          <a:lstStyle/>
          <a:p>
            <a:pPr algn="just">
              <a:spcBef>
                <a:spcPts val="600"/>
              </a:spcBef>
              <a:spcAft>
                <a:spcPts val="600"/>
              </a:spcAft>
            </a:pPr>
            <a:r>
              <a:rPr lang="en-UG" b="1" dirty="0">
                <a:solidFill>
                  <a:srgbClr val="006E57"/>
                </a:solidFill>
                <a:latin typeface="Gill Sans MT" panose="020B0502020104020203" pitchFamily="34" charset="77"/>
                <a:ea typeface="Book Antiqua" panose="02040602050305030304" pitchFamily="18" charset="0"/>
                <a:cs typeface="Book Antiqua" panose="02040602050305030304" pitchFamily="18" charset="0"/>
              </a:rPr>
              <a:t>Sample </a:t>
            </a:r>
            <a:r>
              <a:rPr lang="en-UG" sz="1800" b="1" u="none" strike="noStrike"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Cooperative Resilience Scores for</a:t>
            </a:r>
            <a:r>
              <a:rPr lang="en-UG" b="1" dirty="0">
                <a:solidFill>
                  <a:srgbClr val="006E57"/>
                </a:solidFill>
                <a:latin typeface="Gill Sans MT" panose="020B0502020104020203" pitchFamily="34" charset="77"/>
                <a:ea typeface="Book Antiqua" panose="02040602050305030304" pitchFamily="18" charset="0"/>
                <a:cs typeface="Book Antiqua" panose="02040602050305030304" pitchFamily="18" charset="0"/>
              </a:rPr>
              <a:t> a dummy Cooperative</a:t>
            </a:r>
            <a:endParaRPr lang="en-GB" sz="1800" b="1" dirty="0">
              <a:solidFill>
                <a:srgbClr val="006E57"/>
              </a:solidFill>
              <a:latin typeface="Gill Sans MT" panose="020B0502020104020203" pitchFamily="34" charset="77"/>
              <a:ea typeface="Book Antiqua" panose="02040602050305030304" pitchFamily="18" charset="0"/>
              <a:cs typeface="Book Antiqua" panose="02040602050305030304" pitchFamily="18" charset="0"/>
            </a:endParaRPr>
          </a:p>
        </p:txBody>
      </p:sp>
    </p:spTree>
    <p:extLst>
      <p:ext uri="{BB962C8B-B14F-4D97-AF65-F5344CB8AC3E}">
        <p14:creationId xmlns:p14="http://schemas.microsoft.com/office/powerpoint/2010/main" val="127749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d508ef84b8_0_345"/>
          <p:cNvSpPr txBox="1">
            <a:spLocks noGrp="1"/>
          </p:cNvSpPr>
          <p:nvPr>
            <p:ph type="sldNum" idx="12"/>
          </p:nvPr>
        </p:nvSpPr>
        <p:spPr>
          <a:xfrm>
            <a:off x="10668000" y="6295225"/>
            <a:ext cx="762000" cy="2805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300"/>
              <a:buNone/>
            </a:pPr>
            <a:fld id="{00000000-1234-1234-1234-123412341234}" type="slidenum">
              <a:rPr lang="en-US"/>
              <a:t>12</a:t>
            </a:fld>
            <a:endParaRPr/>
          </a:p>
        </p:txBody>
      </p:sp>
      <p:pic>
        <p:nvPicPr>
          <p:cNvPr id="2" name="image8.png">
            <a:extLst>
              <a:ext uri="{FF2B5EF4-FFF2-40B4-BE49-F238E27FC236}">
                <a16:creationId xmlns:a16="http://schemas.microsoft.com/office/drawing/2014/main" id="{E37FC3A7-BF30-FCA6-C2BF-56E46AFD62FB}"/>
              </a:ext>
            </a:extLst>
          </p:cNvPr>
          <p:cNvPicPr/>
          <p:nvPr/>
        </p:nvPicPr>
        <p:blipFill>
          <a:blip r:embed="rId3"/>
          <a:srcRect t="3917"/>
          <a:stretch>
            <a:fillRect/>
          </a:stretch>
        </p:blipFill>
        <p:spPr>
          <a:xfrm>
            <a:off x="108284" y="1094874"/>
            <a:ext cx="11875169" cy="5678905"/>
          </a:xfrm>
          <a:prstGeom prst="rect">
            <a:avLst/>
          </a:prstGeom>
          <a:ln/>
        </p:spPr>
      </p:pic>
      <p:sp>
        <p:nvSpPr>
          <p:cNvPr id="4" name="TextBox 3">
            <a:extLst>
              <a:ext uri="{FF2B5EF4-FFF2-40B4-BE49-F238E27FC236}">
                <a16:creationId xmlns:a16="http://schemas.microsoft.com/office/drawing/2014/main" id="{9E1476B5-4B31-6C11-6228-9931EAC7EEC1}"/>
              </a:ext>
            </a:extLst>
          </p:cNvPr>
          <p:cNvSpPr txBox="1"/>
          <p:nvPr/>
        </p:nvSpPr>
        <p:spPr>
          <a:xfrm>
            <a:off x="866273" y="544506"/>
            <a:ext cx="9276348" cy="369332"/>
          </a:xfrm>
          <a:prstGeom prst="rect">
            <a:avLst/>
          </a:prstGeom>
          <a:noFill/>
        </p:spPr>
        <p:txBody>
          <a:bodyPr wrap="square">
            <a:spAutoFit/>
          </a:bodyPr>
          <a:lstStyle/>
          <a:p>
            <a:r>
              <a:rPr lang="en-UG" sz="1400" b="1" dirty="0">
                <a:solidFill>
                  <a:srgbClr val="006E57"/>
                </a:solidFill>
                <a:effectLst/>
                <a:latin typeface="Figtree"/>
                <a:ea typeface="Figtree"/>
                <a:cs typeface="Figtree"/>
              </a:rPr>
              <a:t>Sample Resilience Scores for </a:t>
            </a:r>
            <a:r>
              <a:rPr lang="en-UG" sz="1400" b="1" dirty="0">
                <a:solidFill>
                  <a:srgbClr val="006E57"/>
                </a:solidFill>
                <a:latin typeface="Figtree"/>
                <a:ea typeface="Figtree"/>
                <a:cs typeface="Figtree"/>
              </a:rPr>
              <a:t>XZY  </a:t>
            </a:r>
            <a:r>
              <a:rPr lang="en-UG" sz="1400" b="1" dirty="0">
                <a:solidFill>
                  <a:srgbClr val="006E57"/>
                </a:solidFill>
                <a:effectLst/>
                <a:latin typeface="Figtree"/>
                <a:ea typeface="Figtree"/>
                <a:cs typeface="Figtree"/>
              </a:rPr>
              <a:t>per Cooperative value and principle as at December 2024</a:t>
            </a:r>
            <a:r>
              <a:rPr lang="en-UG" dirty="0">
                <a:solidFill>
                  <a:srgbClr val="006E57"/>
                </a:solidFill>
                <a:effectLst/>
              </a:rPr>
              <a:t> </a:t>
            </a:r>
            <a:endParaRPr lang="en-UG" dirty="0">
              <a:solidFill>
                <a:srgbClr val="006E5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3" name="Google Shape;863;p105"/>
          <p:cNvSpPr txBox="1">
            <a:spLocks noGrp="1"/>
          </p:cNvSpPr>
          <p:nvPr>
            <p:ph type="body" idx="1"/>
          </p:nvPr>
        </p:nvSpPr>
        <p:spPr>
          <a:xfrm>
            <a:off x="450062" y="1140177"/>
            <a:ext cx="5151425" cy="5505003"/>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XYZ Coop demonstrates moderate collaboration:</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89% in democracy, 71% in solidarity</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Established committees for joint planning and operations</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Regular meetings: monthly board, quarterly general, annual general</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External partnerships: National Agricultural Research Centre, training institutions</a:t>
            </a:r>
            <a:endParaRPr sz="1600" dirty="0">
              <a:solidFill>
                <a:schemeClr val="dk1"/>
              </a:solidFill>
              <a:latin typeface="Gill Sans"/>
              <a:ea typeface="Gill Sans"/>
              <a:cs typeface="Gill Sans"/>
              <a:sym typeface="Gill Sans"/>
            </a:endParaRPr>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To improve collaboration, XYZ Cooperative should:</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Enhance cooperation amongst cooperatives (29% score)</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Develop 10-year strategic plan</a:t>
            </a:r>
            <a:endParaRPr sz="1600" dirty="0"/>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Develop business plans for various business units </a:t>
            </a:r>
            <a:endParaRPr sz="1600" dirty="0"/>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Strengthen internal control policies</a:t>
            </a:r>
            <a:endParaRPr sz="1600" dirty="0"/>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Introduce more membership welfare programs</a:t>
            </a:r>
            <a:endParaRPr sz="1600" dirty="0"/>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Increase women's engagement in leadership</a:t>
            </a:r>
            <a:endParaRPr sz="1600" dirty="0"/>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These efforts can address low scores in:</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Cooperation amongst cooperatives (29%)</a:t>
            </a:r>
            <a:endParaRPr sz="1600" dirty="0">
              <a:solidFill>
                <a:schemeClr val="dk1"/>
              </a:solidFill>
              <a:latin typeface="Gill Sans"/>
              <a:ea typeface="Gill Sans"/>
              <a:cs typeface="Gill Sans"/>
              <a:sym typeface="Gill Sans"/>
            </a:endParaRPr>
          </a:p>
          <a:p>
            <a:pPr marL="914400" lvl="1" indent="-342900" algn="just" rtl="0">
              <a:lnSpc>
                <a:spcPct val="115000"/>
              </a:lnSpc>
              <a:spcBef>
                <a:spcPts val="0"/>
              </a:spcBef>
              <a:spcAft>
                <a:spcPts val="0"/>
              </a:spcAft>
              <a:buClr>
                <a:srgbClr val="980000"/>
              </a:buClr>
              <a:buSzPts val="1800"/>
              <a:buChar char="□"/>
            </a:pPr>
            <a:r>
              <a:rPr lang="en-US" sz="1600" dirty="0">
                <a:solidFill>
                  <a:schemeClr val="dk1"/>
                </a:solidFill>
                <a:latin typeface="Gill Sans"/>
                <a:ea typeface="Gill Sans"/>
                <a:cs typeface="Gill Sans"/>
                <a:sym typeface="Gill Sans"/>
              </a:rPr>
              <a:t>Equity (40%) and caring for others (44%)</a:t>
            </a:r>
            <a:endParaRPr sz="1600" dirty="0"/>
          </a:p>
        </p:txBody>
      </p:sp>
      <p:sp>
        <p:nvSpPr>
          <p:cNvPr id="864" name="Google Shape;864;p105"/>
          <p:cNvSpPr txBox="1">
            <a:spLocks noGrp="1"/>
          </p:cNvSpPr>
          <p:nvPr>
            <p:ph type="title"/>
          </p:nvPr>
        </p:nvSpPr>
        <p:spPr>
          <a:xfrm>
            <a:off x="618652" y="666043"/>
            <a:ext cx="5541000" cy="474134"/>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SzPts val="1400"/>
              <a:buNone/>
            </a:pPr>
            <a:r>
              <a:rPr lang="en-US" sz="1800" b="1" dirty="0">
                <a:solidFill>
                  <a:srgbClr val="1A654C"/>
                </a:solidFill>
                <a:latin typeface="Work Sans"/>
                <a:ea typeface="Work Sans"/>
                <a:cs typeface="Work Sans"/>
                <a:sym typeface="Work Sans"/>
              </a:rPr>
              <a:t>Collaboration</a:t>
            </a:r>
            <a:endParaRPr sz="1800" b="1" dirty="0"/>
          </a:p>
        </p:txBody>
      </p:sp>
      <p:sp>
        <p:nvSpPr>
          <p:cNvPr id="865" name="Google Shape;865;p105"/>
          <p:cNvSpPr txBox="1">
            <a:spLocks noGrp="1"/>
          </p:cNvSpPr>
          <p:nvPr>
            <p:ph type="body" idx="1"/>
          </p:nvPr>
        </p:nvSpPr>
        <p:spPr>
          <a:xfrm>
            <a:off x="6590515" y="1140177"/>
            <a:ext cx="4600222" cy="4932271"/>
          </a:xfrm>
          <a:prstGeom prst="rect">
            <a:avLst/>
          </a:prstGeom>
          <a:noFill/>
          <a:ln>
            <a:noFill/>
          </a:ln>
        </p:spPr>
        <p:txBody>
          <a:bodyPr spcFirstLastPara="1" wrap="square" lIns="91425" tIns="91425" rIns="91425" bIns="91425" anchor="t" anchorCtr="0">
            <a:noAutofit/>
          </a:bodyPr>
          <a:lstStyle/>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Annual turnover: UGX 283,800,000</a:t>
            </a:r>
            <a:endParaRPr sz="1600" dirty="0">
              <a:solidFill>
                <a:schemeClr val="dk1"/>
              </a:solidFill>
              <a:latin typeface="Gill Sans"/>
              <a:ea typeface="Gill Sans"/>
              <a:cs typeface="Gill Sans"/>
              <a:sym typeface="Gill Sans"/>
            </a:endParaRPr>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Shareholding: UGX 55,350,000</a:t>
            </a:r>
            <a:endParaRPr sz="1600" dirty="0">
              <a:solidFill>
                <a:schemeClr val="dk1"/>
              </a:solidFill>
              <a:latin typeface="Gill Sans"/>
              <a:ea typeface="Gill Sans"/>
              <a:cs typeface="Gill Sans"/>
              <a:sym typeface="Gill Sans"/>
            </a:endParaRPr>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Net surplus: UGX 20,612,683</a:t>
            </a:r>
            <a:endParaRPr sz="1600" dirty="0">
              <a:solidFill>
                <a:schemeClr val="dk1"/>
              </a:solidFill>
              <a:latin typeface="Gill Sans"/>
              <a:ea typeface="Gill Sans"/>
              <a:cs typeface="Gill Sans"/>
              <a:sym typeface="Gill Sans"/>
            </a:endParaRPr>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Key scores:</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Member Economic Participation: 63%</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Voluntary and Open Membership: 100%</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Equity: 40%</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Autonomy and Independence: 69%</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Solidarity: 71%</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Education, Training &amp; Information: 77%</a:t>
            </a:r>
            <a:endParaRPr sz="1600" dirty="0">
              <a:solidFill>
                <a:schemeClr val="dk1"/>
              </a:solidFill>
              <a:latin typeface="Gill Sans"/>
              <a:ea typeface="Gill Sans"/>
              <a:cs typeface="Gill Sans"/>
              <a:sym typeface="Gill Sans"/>
            </a:endParaRPr>
          </a:p>
          <a:p>
            <a:pPr marL="914400" marR="0" lvl="1"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Cooperation amongst Cooperatives: 29%</a:t>
            </a:r>
            <a:endParaRPr sz="1600" dirty="0">
              <a:solidFill>
                <a:schemeClr val="dk1"/>
              </a:solidFill>
              <a:latin typeface="Gill Sans"/>
              <a:ea typeface="Gill Sans"/>
              <a:cs typeface="Gill Sans"/>
              <a:sym typeface="Gill Sans"/>
            </a:endParaRPr>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Diverse income sources and enterprises</a:t>
            </a:r>
            <a:endParaRPr sz="1600" dirty="0">
              <a:solidFill>
                <a:schemeClr val="dk1"/>
              </a:solidFill>
              <a:latin typeface="Gill Sans"/>
              <a:ea typeface="Gill Sans"/>
              <a:cs typeface="Gill Sans"/>
              <a:sym typeface="Gill Sans"/>
            </a:endParaRPr>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Future plans: High-quality cassava flour export, animal feed production</a:t>
            </a:r>
            <a:endParaRPr sz="1600" dirty="0">
              <a:solidFill>
                <a:schemeClr val="dk1"/>
              </a:solidFill>
              <a:latin typeface="Gill Sans"/>
              <a:ea typeface="Gill Sans"/>
              <a:cs typeface="Gill Sans"/>
              <a:sym typeface="Gill Sans"/>
            </a:endParaRPr>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Challenges: Insufficient capital assets spread thin across many ventures. </a:t>
            </a:r>
            <a:endParaRPr sz="1600" dirty="0"/>
          </a:p>
          <a:p>
            <a:pPr marL="457200" marR="0" lvl="0" indent="-342900" algn="just" rtl="0">
              <a:lnSpc>
                <a:spcPct val="115000"/>
              </a:lnSpc>
              <a:spcBef>
                <a:spcPts val="0"/>
              </a:spcBef>
              <a:spcAft>
                <a:spcPts val="0"/>
              </a:spcAft>
              <a:buClr>
                <a:srgbClr val="980000"/>
              </a:buClr>
              <a:buSzPts val="1800"/>
              <a:buFont typeface="Work Sans"/>
              <a:buChar char="■"/>
            </a:pPr>
            <a:r>
              <a:rPr lang="en-US" sz="1600" dirty="0">
                <a:solidFill>
                  <a:schemeClr val="dk1"/>
                </a:solidFill>
                <a:latin typeface="Gill Sans"/>
                <a:ea typeface="Gill Sans"/>
                <a:cs typeface="Gill Sans"/>
                <a:sym typeface="Gill Sans"/>
              </a:rPr>
              <a:t>Coop should consider prioritising</a:t>
            </a:r>
            <a:endParaRPr sz="1600" dirty="0">
              <a:solidFill>
                <a:schemeClr val="dk1"/>
              </a:solidFill>
              <a:latin typeface="Gill Sans"/>
              <a:ea typeface="Gill Sans"/>
              <a:cs typeface="Gill Sans"/>
              <a:sym typeface="Gill Sans"/>
            </a:endParaRPr>
          </a:p>
        </p:txBody>
      </p:sp>
      <p:sp>
        <p:nvSpPr>
          <p:cNvPr id="866" name="Google Shape;866;p105"/>
          <p:cNvSpPr txBox="1">
            <a:spLocks noGrp="1"/>
          </p:cNvSpPr>
          <p:nvPr>
            <p:ph type="title"/>
          </p:nvPr>
        </p:nvSpPr>
        <p:spPr>
          <a:xfrm>
            <a:off x="6792108" y="666043"/>
            <a:ext cx="3282300" cy="474134"/>
          </a:xfrm>
          <a:prstGeom prst="rect">
            <a:avLst/>
          </a:prstGeom>
          <a:noFill/>
          <a:ln>
            <a:noFill/>
          </a:ln>
        </p:spPr>
        <p:txBody>
          <a:bodyPr spcFirstLastPara="1" wrap="square" lIns="91425" tIns="91425" rIns="91425" bIns="91425" anchor="t" anchorCtr="0">
            <a:noAutofit/>
          </a:bodyPr>
          <a:lstStyle/>
          <a:p>
            <a:pPr marL="0" marR="0" lvl="0" indent="0" algn="just" rtl="0">
              <a:lnSpc>
                <a:spcPct val="100000"/>
              </a:lnSpc>
              <a:spcBef>
                <a:spcPts val="0"/>
              </a:spcBef>
              <a:spcAft>
                <a:spcPts val="0"/>
              </a:spcAft>
              <a:buSzPts val="1400"/>
              <a:buNone/>
            </a:pPr>
            <a:r>
              <a:rPr lang="en-US" sz="2000" b="1" dirty="0">
                <a:solidFill>
                  <a:srgbClr val="1A654C"/>
                </a:solidFill>
                <a:latin typeface="Work Sans"/>
                <a:ea typeface="Work Sans"/>
                <a:cs typeface="Work Sans"/>
                <a:sym typeface="Work Sans"/>
              </a:rPr>
              <a:t>Market </a:t>
            </a:r>
            <a:r>
              <a:rPr lang="en-US" sz="1800" b="1" dirty="0">
                <a:solidFill>
                  <a:srgbClr val="1A654C"/>
                </a:solidFill>
                <a:latin typeface="Work Sans"/>
                <a:ea typeface="Work Sans"/>
                <a:cs typeface="Work Sans"/>
                <a:sym typeface="Work Sans"/>
              </a:rPr>
              <a:t>Position</a:t>
            </a:r>
            <a:endParaRPr sz="1800" b="1" dirty="0"/>
          </a:p>
        </p:txBody>
      </p:sp>
      <p:sp>
        <p:nvSpPr>
          <p:cNvPr id="2" name="Google Shape;683;p107">
            <a:extLst>
              <a:ext uri="{FF2B5EF4-FFF2-40B4-BE49-F238E27FC236}">
                <a16:creationId xmlns:a16="http://schemas.microsoft.com/office/drawing/2014/main" id="{AAE33BBC-C68D-8B68-CB18-F667CC761D51}"/>
              </a:ext>
            </a:extLst>
          </p:cNvPr>
          <p:cNvSpPr txBox="1">
            <a:spLocks/>
          </p:cNvSpPr>
          <p:nvPr/>
        </p:nvSpPr>
        <p:spPr>
          <a:xfrm>
            <a:off x="684686" y="190996"/>
            <a:ext cx="10822628" cy="474743"/>
          </a:xfrm>
          <a:prstGeom prst="rect">
            <a:avLst/>
          </a:prstGeom>
          <a:noFill/>
          <a:ln>
            <a:noFill/>
          </a:ln>
        </p:spPr>
        <p:txBody>
          <a:bodyPr spcFirstLastPara="1" vert="horz" wrap="square" lIns="91425" tIns="91425" rIns="91425" bIns="91425" rtlCol="0" anchor="t" anchorCtr="0">
            <a:noAutofit/>
          </a:bodyPr>
          <a:lstStyle>
            <a:lvl1pPr marR="0" lvl="0" algn="l" defTabSz="914400" rtl="0" eaLnBrk="1" latinLnBrk="0" hangingPunct="1">
              <a:lnSpc>
                <a:spcPct val="100000"/>
              </a:lnSpc>
              <a:spcBef>
                <a:spcPts val="0"/>
              </a:spcBef>
              <a:spcAft>
                <a:spcPts val="0"/>
              </a:spcAft>
              <a:buClr>
                <a:schemeClr val="dk2"/>
              </a:buClr>
              <a:buSzPts val="1400"/>
              <a:buFont typeface="Arial"/>
              <a:buNone/>
              <a:defRPr sz="3000" i="0" u="none" strike="noStrike" kern="1200" cap="none">
                <a:solidFill>
                  <a:schemeClr val="dk2"/>
                </a:solidFill>
                <a:latin typeface="Arial"/>
                <a:ea typeface="Arial"/>
                <a:cs typeface="Arial"/>
                <a:sym typeface="Arial"/>
              </a:defRPr>
            </a:lvl1pPr>
            <a:lvl2pPr lvl="1" algn="l">
              <a:lnSpc>
                <a:spcPct val="100000"/>
              </a:lnSpc>
              <a:spcBef>
                <a:spcPts val="0"/>
              </a:spcBef>
              <a:spcAft>
                <a:spcPts val="0"/>
              </a:spcAft>
              <a:buSzPts val="1400"/>
              <a:buFont typeface="Arial"/>
              <a:buNone/>
              <a:defRPr sz="1800">
                <a:latin typeface="Arial"/>
                <a:ea typeface="Arial"/>
                <a:cs typeface="Arial"/>
                <a:sym typeface="Arial"/>
              </a:defRPr>
            </a:lvl2pPr>
            <a:lvl3pPr lvl="2" algn="l">
              <a:lnSpc>
                <a:spcPct val="100000"/>
              </a:lnSpc>
              <a:spcBef>
                <a:spcPts val="0"/>
              </a:spcBef>
              <a:spcAft>
                <a:spcPts val="0"/>
              </a:spcAft>
              <a:buSzPts val="1400"/>
              <a:buFont typeface="Arial"/>
              <a:buNone/>
              <a:defRPr sz="1800">
                <a:latin typeface="Arial"/>
                <a:ea typeface="Arial"/>
                <a:cs typeface="Arial"/>
                <a:sym typeface="Arial"/>
              </a:defRPr>
            </a:lvl3pPr>
            <a:lvl4pPr lvl="3" algn="l">
              <a:lnSpc>
                <a:spcPct val="100000"/>
              </a:lnSpc>
              <a:spcBef>
                <a:spcPts val="0"/>
              </a:spcBef>
              <a:spcAft>
                <a:spcPts val="0"/>
              </a:spcAft>
              <a:buSzPts val="1400"/>
              <a:buFont typeface="Arial"/>
              <a:buNone/>
              <a:defRPr sz="1800">
                <a:latin typeface="Arial"/>
                <a:ea typeface="Arial"/>
                <a:cs typeface="Arial"/>
                <a:sym typeface="Arial"/>
              </a:defRPr>
            </a:lvl4pPr>
            <a:lvl5pPr lvl="4" algn="l">
              <a:lnSpc>
                <a:spcPct val="100000"/>
              </a:lnSpc>
              <a:spcBef>
                <a:spcPts val="0"/>
              </a:spcBef>
              <a:spcAft>
                <a:spcPts val="0"/>
              </a:spcAft>
              <a:buSzPts val="1400"/>
              <a:buFont typeface="Arial"/>
              <a:buNone/>
              <a:defRPr sz="1800">
                <a:latin typeface="Arial"/>
                <a:ea typeface="Arial"/>
                <a:cs typeface="Arial"/>
                <a:sym typeface="Arial"/>
              </a:defRPr>
            </a:lvl5pPr>
            <a:lvl6pPr lvl="5" algn="l">
              <a:lnSpc>
                <a:spcPct val="100000"/>
              </a:lnSpc>
              <a:spcBef>
                <a:spcPts val="0"/>
              </a:spcBef>
              <a:spcAft>
                <a:spcPts val="0"/>
              </a:spcAft>
              <a:buSzPts val="1400"/>
              <a:buFont typeface="Arial"/>
              <a:buNone/>
              <a:defRPr sz="1800">
                <a:latin typeface="Arial"/>
                <a:ea typeface="Arial"/>
                <a:cs typeface="Arial"/>
                <a:sym typeface="Arial"/>
              </a:defRPr>
            </a:lvl6pPr>
            <a:lvl7pPr lvl="6" algn="l">
              <a:lnSpc>
                <a:spcPct val="100000"/>
              </a:lnSpc>
              <a:spcBef>
                <a:spcPts val="0"/>
              </a:spcBef>
              <a:spcAft>
                <a:spcPts val="0"/>
              </a:spcAft>
              <a:buSzPts val="1400"/>
              <a:buFont typeface="Arial"/>
              <a:buNone/>
              <a:defRPr sz="1800">
                <a:latin typeface="Arial"/>
                <a:ea typeface="Arial"/>
                <a:cs typeface="Arial"/>
                <a:sym typeface="Arial"/>
              </a:defRPr>
            </a:lvl7pPr>
            <a:lvl8pPr lvl="7" algn="l">
              <a:lnSpc>
                <a:spcPct val="100000"/>
              </a:lnSpc>
              <a:spcBef>
                <a:spcPts val="0"/>
              </a:spcBef>
              <a:spcAft>
                <a:spcPts val="0"/>
              </a:spcAft>
              <a:buSzPts val="1400"/>
              <a:buFont typeface="Arial"/>
              <a:buNone/>
              <a:defRPr sz="1800">
                <a:latin typeface="Arial"/>
                <a:ea typeface="Arial"/>
                <a:cs typeface="Arial"/>
                <a:sym typeface="Arial"/>
              </a:defRPr>
            </a:lvl8pPr>
            <a:lvl9pPr lvl="8" algn="l">
              <a:lnSpc>
                <a:spcPct val="100000"/>
              </a:lnSpc>
              <a:spcBef>
                <a:spcPts val="0"/>
              </a:spcBef>
              <a:spcAft>
                <a:spcPts val="0"/>
              </a:spcAft>
              <a:buSzPts val="1400"/>
              <a:buFont typeface="Arial"/>
              <a:buNone/>
              <a:defRPr sz="1800">
                <a:latin typeface="Arial"/>
                <a:ea typeface="Arial"/>
                <a:cs typeface="Arial"/>
                <a:sym typeface="Arial"/>
              </a:defRPr>
            </a:lvl9pPr>
          </a:lstStyle>
          <a:p>
            <a:pPr algn="just">
              <a:spcBef>
                <a:spcPts val="600"/>
              </a:spcBef>
              <a:spcAft>
                <a:spcPts val="600"/>
              </a:spcAft>
            </a:pPr>
            <a:r>
              <a:rPr lang="en-US" sz="2000" b="1" dirty="0">
                <a:solidFill>
                  <a:srgbClr val="1A654C"/>
                </a:solidFill>
                <a:latin typeface="Gill Sans MT" panose="020B0502020104020203" pitchFamily="34" charset="77"/>
                <a:ea typeface="Work Sans"/>
                <a:cs typeface="Work Sans"/>
                <a:sym typeface="Work Sans"/>
              </a:rPr>
              <a:t>Sample Interpretation of XYZ Cooperative Organisation’s Systems Desirability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9DF3-52BB-451F-BEFC-3C10E28B9A6C}"/>
              </a:ext>
            </a:extLst>
          </p:cNvPr>
          <p:cNvSpPr>
            <a:spLocks noGrp="1"/>
          </p:cNvSpPr>
          <p:nvPr>
            <p:ph type="title"/>
          </p:nvPr>
        </p:nvSpPr>
        <p:spPr>
          <a:xfrm>
            <a:off x="383083" y="396149"/>
            <a:ext cx="11263971" cy="886241"/>
          </a:xfrm>
        </p:spPr>
        <p:txBody>
          <a:bodyPr/>
          <a:lstStyle/>
          <a:p>
            <a:r>
              <a:rPr lang="en-US" b="1" dirty="0">
                <a:solidFill>
                  <a:srgbClr val="006E57"/>
                </a:solidFill>
                <a:latin typeface="Gill Sans MT" panose="020B0502020104020203" pitchFamily="34" charset="77"/>
              </a:rPr>
              <a:t>Coop Profiler’s Value Proposition</a:t>
            </a:r>
            <a:endParaRPr lang="en-UG" dirty="0"/>
          </a:p>
        </p:txBody>
      </p:sp>
      <p:sp>
        <p:nvSpPr>
          <p:cNvPr id="3" name="Content Placeholder 2">
            <a:extLst>
              <a:ext uri="{FF2B5EF4-FFF2-40B4-BE49-F238E27FC236}">
                <a16:creationId xmlns:a16="http://schemas.microsoft.com/office/drawing/2014/main" id="{6A7F805D-F10A-4DFC-909F-FF0687EB69BA}"/>
              </a:ext>
            </a:extLst>
          </p:cNvPr>
          <p:cNvSpPr>
            <a:spLocks noGrp="1"/>
          </p:cNvSpPr>
          <p:nvPr>
            <p:ph idx="1"/>
          </p:nvPr>
        </p:nvSpPr>
        <p:spPr>
          <a:xfrm>
            <a:off x="477868" y="1194521"/>
            <a:ext cx="11074400" cy="5267330"/>
          </a:xfrm>
        </p:spPr>
        <p:txBody>
          <a:bodyPr>
            <a:normAutofit lnSpcReduction="10000"/>
          </a:bodyPr>
          <a:lstStyle/>
          <a:p>
            <a:pPr algn="just">
              <a:lnSpc>
                <a:spcPct val="114000"/>
              </a:lnSpc>
              <a:spcBef>
                <a:spcPts val="600"/>
              </a:spcBef>
              <a:buFont typeface="Wingdings" pitchFamily="2" charset="2"/>
              <a:buChar char="v"/>
            </a:pPr>
            <a:r>
              <a:rPr lang="en-US" sz="1800" b="1" dirty="0">
                <a:solidFill>
                  <a:srgbClr val="006E57"/>
                </a:solidFill>
                <a:latin typeface="Gill Sans MT" panose="020B0502020104020203" pitchFamily="34" charset="77"/>
              </a:rPr>
              <a:t>Data Democratization </a:t>
            </a:r>
            <a:endParaRPr lang="en-GB" sz="1800" dirty="0">
              <a:effectLst/>
              <a:latin typeface="Gill Sans MT" panose="020B0502020104020203" pitchFamily="34" charset="77"/>
              <a:ea typeface="Book Antiqua" panose="02040602050305030304" pitchFamily="18" charset="0"/>
              <a:cs typeface="Book Antiqua" panose="02040602050305030304" pitchFamily="18" charset="0"/>
            </a:endParaRPr>
          </a:p>
          <a:p>
            <a:pPr marL="0" indent="0" algn="just">
              <a:lnSpc>
                <a:spcPct val="114000"/>
              </a:lnSpc>
              <a:spcBef>
                <a:spcPts val="600"/>
              </a:spcBef>
              <a:buNone/>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To us data matters at a personal and institutional level and so we are intentional data aggregation, analysis, reporting and dissemination processes by involving the data subjects, aggregators and users in a collaborative manner</a:t>
            </a:r>
          </a:p>
          <a:p>
            <a:pPr marL="0" indent="0" algn="just">
              <a:lnSpc>
                <a:spcPct val="114000"/>
              </a:lnSpc>
              <a:spcBef>
                <a:spcPts val="600"/>
              </a:spcBef>
              <a:buNone/>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Our ethical and professional development and management of data resources inspires ownership and trust. Thus, the requirement for a collective effort in ensuring that data and its processes are authentic and reliable. Data integrity in terms of completeness, validity, reliability, accuracy, and consistency are integral principles that govern our functionality and usability. We </a:t>
            </a:r>
            <a:r>
              <a:rPr lang="en-GB" sz="1800" dirty="0">
                <a:latin typeface="Gill Sans MT" panose="020B0502020104020203" pitchFamily="34" charset="77"/>
                <a:ea typeface="Book Antiqua" panose="02040602050305030304" pitchFamily="18" charset="0"/>
                <a:cs typeface="Book Antiqua" panose="02040602050305030304" pitchFamily="18" charset="0"/>
              </a:rPr>
              <a:t>believe that our</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 software’s delivery is as good as the information that is fed in it. Like the good old ICT analogy “rubbish in, rubbish out” (RIRO), therefore all efforts towards cooperative data management and resilience measurement must be conscious of this and desist from any practices that compromise validity and soundness. </a:t>
            </a:r>
          </a:p>
          <a:p>
            <a:pPr marL="0" indent="0" algn="just">
              <a:lnSpc>
                <a:spcPct val="114000"/>
              </a:lnSpc>
              <a:spcBef>
                <a:spcPts val="600"/>
              </a:spcBef>
              <a:buNone/>
            </a:pPr>
            <a:r>
              <a:rPr lang="en-UG" sz="1800" b="1" u="none" strike="noStrike"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A Dynamic documents’ centre</a:t>
            </a:r>
            <a:endParaRPr lang="en-GB" sz="1800" b="1"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endParaRPr>
          </a:p>
          <a:p>
            <a:pPr marL="0" indent="0" algn="just">
              <a:lnSpc>
                <a:spcPct val="114000"/>
              </a:lnSpc>
              <a:spcBef>
                <a:spcPts val="600"/>
              </a:spcBef>
              <a:buNone/>
            </a:pPr>
            <a:r>
              <a:rPr lang="en-GB" sz="1800" dirty="0">
                <a:latin typeface="Gill Sans MT" panose="020B0502020104020203" pitchFamily="34" charset="77"/>
                <a:ea typeface="Book Antiqua" panose="02040602050305030304" pitchFamily="18" charset="0"/>
                <a:cs typeface="Book Antiqua" panose="02040602050305030304" pitchFamily="18" charset="0"/>
              </a:rPr>
              <a:t>Our robust document centre provides space for data validity to the extent that uploaded documents (</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registration certificates, audit reports, minutes of the general assembly and committee meetings)</a:t>
            </a:r>
            <a:r>
              <a:rPr lang="en-GB" sz="1800" dirty="0">
                <a:latin typeface="Gill Sans MT" panose="020B0502020104020203" pitchFamily="34" charset="77"/>
                <a:ea typeface="Book Antiqua" panose="02040602050305030304" pitchFamily="18" charset="0"/>
                <a:cs typeface="Book Antiqua" panose="02040602050305030304" pitchFamily="18" charset="0"/>
              </a:rPr>
              <a:t> that have been attached are authentic and not cooked.</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 </a:t>
            </a:r>
            <a:r>
              <a:rPr lang="en-GB" sz="1800" dirty="0">
                <a:latin typeface="Gill Sans MT" panose="020B0502020104020203" pitchFamily="34" charset="77"/>
                <a:ea typeface="Book Antiqua" panose="02040602050305030304" pitchFamily="18" charset="0"/>
                <a:cs typeface="Book Antiqua" panose="02040602050305030304" pitchFamily="18" charset="0"/>
              </a:rPr>
              <a:t>W</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hen documentary evidence to support the information in the questionnaires are filed, the cooperatives, their partners, government, financiers can use them to perform their operational, monitoring, evaluation and regulatory work. </a:t>
            </a:r>
            <a:endParaRPr lang="en-UG" sz="1800" dirty="0">
              <a:effectLst/>
              <a:latin typeface="Gill Sans MT" panose="020B0502020104020203" pitchFamily="34" charset="77"/>
              <a:ea typeface="Book Antiqua" panose="02040602050305030304" pitchFamily="18" charset="0"/>
              <a:cs typeface="Book Antiqua" panose="02040602050305030304" pitchFamily="18" charset="0"/>
            </a:endParaRPr>
          </a:p>
          <a:p>
            <a:pPr marL="0" indent="0" algn="just">
              <a:lnSpc>
                <a:spcPct val="114000"/>
              </a:lnSpc>
              <a:spcBef>
                <a:spcPts val="600"/>
              </a:spcBef>
              <a:buNone/>
            </a:pPr>
            <a:endParaRPr lang="en-UG" sz="1800" dirty="0"/>
          </a:p>
        </p:txBody>
      </p:sp>
    </p:spTree>
    <p:extLst>
      <p:ext uri="{BB962C8B-B14F-4D97-AF65-F5344CB8AC3E}">
        <p14:creationId xmlns:p14="http://schemas.microsoft.com/office/powerpoint/2010/main" val="2240836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107232-44C5-DC5E-454D-EBE5297D2399}"/>
              </a:ext>
            </a:extLst>
          </p:cNvPr>
          <p:cNvPicPr>
            <a:picLocks noChangeAspect="1"/>
          </p:cNvPicPr>
          <p:nvPr/>
        </p:nvPicPr>
        <p:blipFill>
          <a:blip r:embed="rId3"/>
          <a:stretch>
            <a:fillRect/>
          </a:stretch>
        </p:blipFill>
        <p:spPr>
          <a:xfrm>
            <a:off x="361244" y="383822"/>
            <a:ext cx="11458223" cy="6197600"/>
          </a:xfrm>
          <a:prstGeom prst="rect">
            <a:avLst/>
          </a:prstGeom>
        </p:spPr>
      </p:pic>
    </p:spTree>
    <p:extLst>
      <p:ext uri="{BB962C8B-B14F-4D97-AF65-F5344CB8AC3E}">
        <p14:creationId xmlns:p14="http://schemas.microsoft.com/office/powerpoint/2010/main" val="444445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19DF3-52BB-451F-BEFC-3C10E28B9A6C}"/>
              </a:ext>
            </a:extLst>
          </p:cNvPr>
          <p:cNvSpPr>
            <a:spLocks noGrp="1"/>
          </p:cNvSpPr>
          <p:nvPr>
            <p:ph type="title"/>
          </p:nvPr>
        </p:nvSpPr>
        <p:spPr>
          <a:xfrm>
            <a:off x="416537" y="396150"/>
            <a:ext cx="11392603" cy="752425"/>
          </a:xfrm>
        </p:spPr>
        <p:txBody>
          <a:bodyPr/>
          <a:lstStyle/>
          <a:p>
            <a:r>
              <a:rPr lang="en-US" b="1" dirty="0">
                <a:solidFill>
                  <a:srgbClr val="006E57"/>
                </a:solidFill>
                <a:latin typeface="Gill Sans MT" panose="020B0502020104020203" pitchFamily="34" charset="77"/>
              </a:rPr>
              <a:t>Coop Profiler’s Value Proposition</a:t>
            </a:r>
            <a:endParaRPr lang="en-UG" dirty="0"/>
          </a:p>
        </p:txBody>
      </p:sp>
      <p:sp>
        <p:nvSpPr>
          <p:cNvPr id="3" name="Content Placeholder 2">
            <a:extLst>
              <a:ext uri="{FF2B5EF4-FFF2-40B4-BE49-F238E27FC236}">
                <a16:creationId xmlns:a16="http://schemas.microsoft.com/office/drawing/2014/main" id="{6A7F805D-F10A-4DFC-909F-FF0687EB69BA}"/>
              </a:ext>
            </a:extLst>
          </p:cNvPr>
          <p:cNvSpPr>
            <a:spLocks noGrp="1"/>
          </p:cNvSpPr>
          <p:nvPr>
            <p:ph idx="1"/>
          </p:nvPr>
        </p:nvSpPr>
        <p:spPr>
          <a:xfrm>
            <a:off x="416536" y="1148575"/>
            <a:ext cx="11392603" cy="5430645"/>
          </a:xfrm>
        </p:spPr>
        <p:txBody>
          <a:bodyPr>
            <a:normAutofit lnSpcReduction="10000"/>
          </a:bodyPr>
          <a:lstStyle/>
          <a:p>
            <a:pPr algn="just">
              <a:lnSpc>
                <a:spcPct val="115000"/>
              </a:lnSpc>
              <a:spcBef>
                <a:spcPts val="0"/>
              </a:spcBef>
              <a:spcAft>
                <a:spcPts val="600"/>
              </a:spcAft>
              <a:buFont typeface="Wingdings" pitchFamily="2" charset="2"/>
              <a:buChar char="v"/>
            </a:pPr>
            <a:r>
              <a:rPr lang="en-GB" sz="1800" b="1"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We operate in an ethical, transparent and compliant manner</a:t>
            </a:r>
            <a:r>
              <a:rPr lang="en-GB" sz="1800" b="1" dirty="0">
                <a:effectLst/>
                <a:latin typeface="Gill Sans MT" panose="020B0502020104020203" pitchFamily="34" charset="77"/>
                <a:ea typeface="Book Antiqua" panose="02040602050305030304" pitchFamily="18" charset="0"/>
                <a:cs typeface="Book Antiqua" panose="02040602050305030304" pitchFamily="18" charset="0"/>
              </a:rPr>
              <a:t>; </a:t>
            </a: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TUI renews Coop Profiler’s licences on a yearly basis with the PDPO and NITA-U regulators.</a:t>
            </a:r>
          </a:p>
          <a:p>
            <a:pPr algn="just">
              <a:lnSpc>
                <a:spcPct val="115000"/>
              </a:lnSpc>
              <a:spcBef>
                <a:spcPts val="600"/>
              </a:spcBef>
              <a:spcAft>
                <a:spcPts val="600"/>
              </a:spcAft>
              <a:buFont typeface="Wingdings" pitchFamily="2" charset="2"/>
              <a:buChar char="v"/>
            </a:pPr>
            <a:r>
              <a:rPr lang="en-UG" sz="1800" b="1" u="none" strike="noStrike"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Offline Capabilities:</a:t>
            </a:r>
            <a:r>
              <a:rPr lang="en-UG" sz="1800" u="none" strike="noStrike"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 </a:t>
            </a:r>
            <a:r>
              <a:rPr lang="en-UG" sz="1800" u="none" strike="noStrike" dirty="0">
                <a:effectLst/>
                <a:latin typeface="Gill Sans MT" panose="020B0502020104020203" pitchFamily="34" charset="77"/>
                <a:ea typeface="Book Antiqua" panose="02040602050305030304" pitchFamily="18" charset="0"/>
                <a:cs typeface="Book Antiqua" panose="02040602050305030304" pitchFamily="18" charset="0"/>
              </a:rPr>
              <a:t>Allows data collection and synchronization even without internet access.</a:t>
            </a:r>
            <a:endParaRPr lang="en-GB" sz="1800" u="none" strike="noStrike" dirty="0">
              <a:latin typeface="Gill Sans MT" panose="020B0502020104020203" pitchFamily="34" charset="77"/>
              <a:ea typeface="Book Antiqua" panose="02040602050305030304" pitchFamily="18" charset="0"/>
              <a:cs typeface="Book Antiqua" panose="02040602050305030304" pitchFamily="18" charset="0"/>
            </a:endParaRPr>
          </a:p>
          <a:p>
            <a:pPr algn="just">
              <a:lnSpc>
                <a:spcPct val="115000"/>
              </a:lnSpc>
              <a:spcBef>
                <a:spcPts val="600"/>
              </a:spcBef>
              <a:spcAft>
                <a:spcPts val="600"/>
              </a:spcAft>
              <a:buFont typeface="Wingdings" pitchFamily="2" charset="2"/>
              <a:buChar char="v"/>
            </a:pPr>
            <a:r>
              <a:rPr lang="en-GB" sz="1800" b="1"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Data Confidentiality and Security are our priority</a:t>
            </a:r>
          </a:p>
          <a:p>
            <a:pPr marL="0" indent="0" algn="just">
              <a:lnSpc>
                <a:spcPct val="100000"/>
              </a:lnSpc>
              <a:spcBef>
                <a:spcPts val="600"/>
              </a:spcBef>
              <a:spcAft>
                <a:spcPts val="600"/>
              </a:spcAft>
              <a:buNone/>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With Coop Profiler, the cooperative and its partners can aggregate data on members, groups and the cooperative for storage, and have it synced for collaborative decision support in an environment that promotes data confidentiality and security through privacy policies, data access and sharing authentication protocols that can be customised by each user type. The tool is automated for hourly backups that ensure data protection and safety.</a:t>
            </a:r>
          </a:p>
          <a:p>
            <a:pPr marL="0" indent="0" algn="just">
              <a:lnSpc>
                <a:spcPct val="100000"/>
              </a:lnSpc>
              <a:spcBef>
                <a:spcPts val="600"/>
              </a:spcBef>
              <a:spcAft>
                <a:spcPts val="600"/>
              </a:spcAft>
              <a:buNone/>
            </a:pPr>
            <a:r>
              <a:rPr lang="en-GB" sz="1800" dirty="0">
                <a:latin typeface="Gill Sans MT" panose="020B0502020104020203" pitchFamily="34" charset="77"/>
                <a:ea typeface="Book Antiqua" panose="02040602050305030304" pitchFamily="18" charset="0"/>
                <a:cs typeface="Book Antiqua" panose="02040602050305030304" pitchFamily="18" charset="0"/>
              </a:rPr>
              <a:t>All data types are secured by TUI the data custodian and the cooperative. The cooperative has all rights over its data, while TUI can only backup and can not use the data unless the cooperative has given it permission to do so as a partner or for approved research purposes.</a:t>
            </a:r>
          </a:p>
          <a:p>
            <a:pPr marL="0" indent="0" algn="just">
              <a:lnSpc>
                <a:spcPct val="100000"/>
              </a:lnSpc>
              <a:spcBef>
                <a:spcPts val="600"/>
              </a:spcBef>
              <a:spcAft>
                <a:spcPts val="600"/>
              </a:spcAft>
              <a:buNone/>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Our product website is enabled with a cookies policy for permissions on whether certain user insights can be used for marketing purposes.</a:t>
            </a:r>
          </a:p>
          <a:p>
            <a:pPr lvl="0" algn="just">
              <a:lnSpc>
                <a:spcPct val="115000"/>
              </a:lnSpc>
              <a:buClr>
                <a:srgbClr val="404040"/>
              </a:buClr>
              <a:buSzPts val="1200"/>
              <a:buFont typeface="Wingdings" pitchFamily="2" charset="2"/>
              <a:buChar char="v"/>
            </a:pPr>
            <a:r>
              <a:rPr lang="en-UG" sz="1800" b="1" u="none" strike="noStrike"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Collaborative Data Source: </a:t>
            </a:r>
            <a:r>
              <a:rPr lang="en-UG" sz="1800" u="none" strike="noStrike" dirty="0">
                <a:effectLst/>
                <a:latin typeface="Gill Sans MT" panose="020B0502020104020203" pitchFamily="34" charset="77"/>
                <a:ea typeface="Book Antiqua" panose="02040602050305030304" pitchFamily="18" charset="0"/>
                <a:cs typeface="Book Antiqua" panose="02040602050305030304" pitchFamily="18" charset="0"/>
              </a:rPr>
              <a:t>Enables partners to collaborate with cooperatives through the platform.</a:t>
            </a:r>
            <a:endParaRPr lang="en-UG" sz="1800" u="none" strike="noStrike" dirty="0">
              <a:effectLst/>
              <a:latin typeface="Gill Sans MT" panose="020B0502020104020203" pitchFamily="34" charset="77"/>
              <a:ea typeface="Roboto" panose="02000000000000000000" pitchFamily="2" charset="0"/>
              <a:cs typeface="Roboto" panose="02000000000000000000" pitchFamily="2" charset="0"/>
            </a:endParaRPr>
          </a:p>
          <a:p>
            <a:pPr lvl="0" algn="just">
              <a:lnSpc>
                <a:spcPct val="115000"/>
              </a:lnSpc>
              <a:buClr>
                <a:srgbClr val="404040"/>
              </a:buClr>
              <a:buSzPts val="1200"/>
              <a:buFont typeface="Wingdings" pitchFamily="2" charset="2"/>
              <a:buChar char="v"/>
            </a:pPr>
            <a:r>
              <a:rPr lang="en-UG" sz="1800" b="1" u="none" strike="noStrike" dirty="0">
                <a:solidFill>
                  <a:srgbClr val="006E57"/>
                </a:solidFill>
                <a:effectLst/>
                <a:latin typeface="Gill Sans MT" panose="020B0502020104020203" pitchFamily="34" charset="77"/>
                <a:ea typeface="Book Antiqua" panose="02040602050305030304" pitchFamily="18" charset="0"/>
                <a:cs typeface="Book Antiqua" panose="02040602050305030304" pitchFamily="18" charset="0"/>
              </a:rPr>
              <a:t>Affordable Pricing</a:t>
            </a:r>
            <a:r>
              <a:rPr lang="en-UG" sz="1800" b="1" u="none" strike="noStrike" dirty="0">
                <a:effectLst/>
                <a:latin typeface="Gill Sans MT" panose="020B0502020104020203" pitchFamily="34" charset="77"/>
                <a:ea typeface="Book Antiqua" panose="02040602050305030304" pitchFamily="18" charset="0"/>
                <a:cs typeface="Book Antiqua" panose="02040602050305030304" pitchFamily="18" charset="0"/>
              </a:rPr>
              <a:t>:</a:t>
            </a:r>
            <a:r>
              <a:rPr lang="en-UG" sz="1800" u="none" strike="noStrike" dirty="0">
                <a:effectLst/>
                <a:latin typeface="Gill Sans MT" panose="020B0502020104020203" pitchFamily="34" charset="77"/>
                <a:ea typeface="Book Antiqua" panose="02040602050305030304" pitchFamily="18" charset="0"/>
                <a:cs typeface="Book Antiqua" panose="02040602050305030304" pitchFamily="18" charset="0"/>
              </a:rPr>
              <a:t> Flexible pricing plans for primary cooperatives, secondary cooperatives, tertiary cooperatives and individual members of cooperatives.</a:t>
            </a:r>
            <a:endParaRPr lang="en-UG" sz="1800" u="none" strike="noStrike" dirty="0">
              <a:effectLst/>
              <a:latin typeface="Gill Sans MT" panose="020B0502020104020203" pitchFamily="34" charset="77"/>
              <a:ea typeface="Roboto" panose="02000000000000000000" pitchFamily="2" charset="0"/>
              <a:cs typeface="Roboto" panose="02000000000000000000" pitchFamily="2" charset="0"/>
            </a:endParaRPr>
          </a:p>
          <a:p>
            <a:pPr marL="0" indent="0" algn="just">
              <a:lnSpc>
                <a:spcPct val="100000"/>
              </a:lnSpc>
              <a:spcBef>
                <a:spcPts val="600"/>
              </a:spcBef>
              <a:spcAft>
                <a:spcPts val="600"/>
              </a:spcAft>
              <a:buNone/>
            </a:pPr>
            <a:endParaRPr lang="en-UG" sz="1800" dirty="0">
              <a:effectLst/>
              <a:latin typeface="Gill Sans MT" panose="020B0502020104020203" pitchFamily="34" charset="77"/>
              <a:ea typeface="Book Antiqua" panose="02040602050305030304" pitchFamily="18" charset="0"/>
              <a:cs typeface="Book Antiqua" panose="02040602050305030304" pitchFamily="18" charset="0"/>
            </a:endParaRPr>
          </a:p>
        </p:txBody>
      </p:sp>
    </p:spTree>
    <p:extLst>
      <p:ext uri="{BB962C8B-B14F-4D97-AF65-F5344CB8AC3E}">
        <p14:creationId xmlns:p14="http://schemas.microsoft.com/office/powerpoint/2010/main" val="14464059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0445E64-413F-15E5-CCD9-0639A3BEF6A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A29212C-F5A4-1926-BFCA-7B5A0CE2AE96}"/>
              </a:ext>
            </a:extLst>
          </p:cNvPr>
          <p:cNvPicPr>
            <a:picLocks noChangeAspect="1"/>
          </p:cNvPicPr>
          <p:nvPr/>
        </p:nvPicPr>
        <p:blipFill>
          <a:blip r:embed="rId3"/>
          <a:stretch>
            <a:fillRect/>
          </a:stretch>
        </p:blipFill>
        <p:spPr>
          <a:xfrm>
            <a:off x="349957" y="316090"/>
            <a:ext cx="11525954" cy="6186310"/>
          </a:xfrm>
          <a:prstGeom prst="rect">
            <a:avLst/>
          </a:prstGeom>
        </p:spPr>
      </p:pic>
    </p:spTree>
    <p:extLst>
      <p:ext uri="{BB962C8B-B14F-4D97-AF65-F5344CB8AC3E}">
        <p14:creationId xmlns:p14="http://schemas.microsoft.com/office/powerpoint/2010/main" val="350900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F805D-F10A-4DFC-909F-FF0687EB69BA}"/>
              </a:ext>
            </a:extLst>
          </p:cNvPr>
          <p:cNvSpPr>
            <a:spLocks noGrp="1"/>
          </p:cNvSpPr>
          <p:nvPr>
            <p:ph idx="1"/>
          </p:nvPr>
        </p:nvSpPr>
        <p:spPr>
          <a:xfrm>
            <a:off x="7672039" y="1265383"/>
            <a:ext cx="3997827" cy="1902362"/>
          </a:xfrm>
        </p:spPr>
        <p:txBody>
          <a:bodyPr>
            <a:normAutofit/>
          </a:bodyPr>
          <a:lstStyle/>
          <a:p>
            <a:pPr marL="0" indent="0" algn="just">
              <a:buNone/>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a:t>
            </a:r>
            <a:endParaRPr lang="en-UG" sz="1800" dirty="0">
              <a:effectLst/>
              <a:latin typeface="Gill Sans MT" panose="020B0502020104020203" pitchFamily="34" charset="77"/>
              <a:ea typeface="Book Antiqua" panose="02040602050305030304" pitchFamily="18" charset="0"/>
              <a:cs typeface="Book Antiqua" panose="02040602050305030304" pitchFamily="18" charset="0"/>
            </a:endParaRPr>
          </a:p>
        </p:txBody>
      </p:sp>
      <p:sp>
        <p:nvSpPr>
          <p:cNvPr id="6" name="TextBox 5">
            <a:extLst>
              <a:ext uri="{FF2B5EF4-FFF2-40B4-BE49-F238E27FC236}">
                <a16:creationId xmlns:a16="http://schemas.microsoft.com/office/drawing/2014/main" id="{FF16F36F-0C57-E199-08E5-15B0BE88C88E}"/>
              </a:ext>
            </a:extLst>
          </p:cNvPr>
          <p:cNvSpPr txBox="1"/>
          <p:nvPr/>
        </p:nvSpPr>
        <p:spPr>
          <a:xfrm>
            <a:off x="406400" y="1180853"/>
            <a:ext cx="6254044" cy="4670509"/>
          </a:xfrm>
          <a:prstGeom prst="rect">
            <a:avLst/>
          </a:prstGeom>
          <a:noFill/>
        </p:spPr>
        <p:txBody>
          <a:bodyPr wrap="square">
            <a:spAutoFit/>
          </a:bodyPr>
          <a:lstStyle/>
          <a:p>
            <a:pPr algn="just">
              <a:lnSpc>
                <a:spcPct val="115000"/>
              </a:lnSpc>
              <a:spcBef>
                <a:spcPts val="600"/>
              </a:spcBef>
              <a:spcAft>
                <a:spcPts val="600"/>
              </a:spcAft>
            </a:pPr>
            <a:r>
              <a:rPr lang="en-US" sz="1800" b="1" dirty="0">
                <a:solidFill>
                  <a:srgbClr val="006E57"/>
                </a:solidFill>
                <a:latin typeface="Gill Sans MT" panose="020B0502020104020203" pitchFamily="34" charset="77"/>
              </a:rPr>
              <a:t>Intentional about innovating</a:t>
            </a:r>
            <a:endParaRPr lang="en-GB" sz="1800" dirty="0">
              <a:effectLst/>
              <a:latin typeface="Gill Sans MT" panose="020B0502020104020203" pitchFamily="34" charset="77"/>
              <a:ea typeface="Book Antiqua" panose="02040602050305030304" pitchFamily="18" charset="0"/>
              <a:cs typeface="Book Antiqua" panose="02040602050305030304" pitchFamily="18" charset="0"/>
            </a:endParaRPr>
          </a:p>
          <a:p>
            <a:pPr algn="just">
              <a:lnSpc>
                <a:spcPct val="115000"/>
              </a:lnSpc>
              <a:spcBef>
                <a:spcPts val="600"/>
              </a:spcBef>
              <a:spcAft>
                <a:spcPts val="600"/>
              </a:spcAft>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Coop Profiler is conscious about constantly innovating and adapting technology that increases the tool’s value to the cooperative subsector. The mobile version has push notifications to facilitate timely updates. Through the pilot tests and market surveys, the team will continue to integrate all useful modules with a view of revolutionising the cooperative business sector.</a:t>
            </a:r>
          </a:p>
          <a:p>
            <a:pPr algn="just">
              <a:lnSpc>
                <a:spcPct val="115000"/>
              </a:lnSpc>
              <a:spcBef>
                <a:spcPts val="600"/>
              </a:spcBef>
              <a:spcAft>
                <a:spcPts val="600"/>
              </a:spcAft>
            </a:pPr>
            <a:r>
              <a:rPr lang="en-US" b="1" dirty="0">
                <a:solidFill>
                  <a:srgbClr val="006E57"/>
                </a:solidFill>
                <a:latin typeface="Gill Sans MT" panose="020B0502020104020203" pitchFamily="34" charset="77"/>
              </a:rPr>
              <a:t>We Share</a:t>
            </a:r>
            <a:endParaRPr lang="en-GB" sz="1800" dirty="0">
              <a:effectLst/>
              <a:latin typeface="Gill Sans MT" panose="020B0502020104020203" pitchFamily="34" charset="77"/>
              <a:ea typeface="Book Antiqua" panose="02040602050305030304" pitchFamily="18" charset="0"/>
              <a:cs typeface="Book Antiqua" panose="02040602050305030304" pitchFamily="18" charset="0"/>
            </a:endParaRPr>
          </a:p>
          <a:p>
            <a:pPr algn="just">
              <a:lnSpc>
                <a:spcPct val="115000"/>
              </a:lnSpc>
              <a:spcBef>
                <a:spcPts val="600"/>
              </a:spcBef>
              <a:spcAft>
                <a:spcPts val="600"/>
              </a:spcAft>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To promote ownership and support growth, TUI has deployed a revenue sharing model that allows the data subject to benefit from a loyalty bonus program i.e. for every hundred individual members profiled the cooperative receives back 5% of the user fees paid</a:t>
            </a:r>
            <a:endParaRPr lang="en-UG" sz="1800" dirty="0">
              <a:effectLst/>
              <a:latin typeface="Gill Sans MT" panose="020B0502020104020203" pitchFamily="34" charset="77"/>
              <a:ea typeface="Book Antiqua" panose="02040602050305030304" pitchFamily="18" charset="0"/>
              <a:cs typeface="Book Antiqua" panose="02040602050305030304" pitchFamily="18" charset="0"/>
            </a:endParaRPr>
          </a:p>
        </p:txBody>
      </p:sp>
      <p:sp>
        <p:nvSpPr>
          <p:cNvPr id="5" name="TextBox 4">
            <a:extLst>
              <a:ext uri="{FF2B5EF4-FFF2-40B4-BE49-F238E27FC236}">
                <a16:creationId xmlns:a16="http://schemas.microsoft.com/office/drawing/2014/main" id="{7347C016-D059-3DE7-0617-E24A3394C20B}"/>
              </a:ext>
            </a:extLst>
          </p:cNvPr>
          <p:cNvSpPr txBox="1"/>
          <p:nvPr/>
        </p:nvSpPr>
        <p:spPr>
          <a:xfrm>
            <a:off x="530577" y="318757"/>
            <a:ext cx="8918223" cy="707886"/>
          </a:xfrm>
          <a:prstGeom prst="rect">
            <a:avLst/>
          </a:prstGeom>
          <a:noFill/>
        </p:spPr>
        <p:txBody>
          <a:bodyPr wrap="square">
            <a:spAutoFit/>
          </a:bodyPr>
          <a:lstStyle/>
          <a:p>
            <a:r>
              <a:rPr lang="en-US" sz="4000" b="1" dirty="0">
                <a:solidFill>
                  <a:srgbClr val="006E57"/>
                </a:solidFill>
                <a:latin typeface="Gill Sans MT" panose="020B0502020104020203" pitchFamily="34" charset="77"/>
              </a:rPr>
              <a:t>Coop Profiler’s Value Proposition</a:t>
            </a:r>
            <a:endParaRPr lang="en-UG" sz="4000" dirty="0"/>
          </a:p>
        </p:txBody>
      </p:sp>
      <p:pic>
        <p:nvPicPr>
          <p:cNvPr id="1028" name="Picture 4" descr="Free Photo portrait of two african colleague standing in front of building talking to each other">
            <a:extLst>
              <a:ext uri="{FF2B5EF4-FFF2-40B4-BE49-F238E27FC236}">
                <a16:creationId xmlns:a16="http://schemas.microsoft.com/office/drawing/2014/main" id="{83BE7E39-30A8-F9D1-7DCD-384B16DE45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9233" y="1180853"/>
            <a:ext cx="4259968" cy="49022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307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AF56F02-04F0-B809-A503-60C9D1A80155}"/>
              </a:ext>
            </a:extLst>
          </p:cNvPr>
          <p:cNvSpPr txBox="1">
            <a:spLocks/>
          </p:cNvSpPr>
          <p:nvPr/>
        </p:nvSpPr>
        <p:spPr>
          <a:xfrm>
            <a:off x="273201" y="557561"/>
            <a:ext cx="11480183" cy="70782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G" dirty="0"/>
          </a:p>
        </p:txBody>
      </p:sp>
      <p:sp>
        <p:nvSpPr>
          <p:cNvPr id="13" name="TextBox 12">
            <a:extLst>
              <a:ext uri="{FF2B5EF4-FFF2-40B4-BE49-F238E27FC236}">
                <a16:creationId xmlns:a16="http://schemas.microsoft.com/office/drawing/2014/main" id="{A5AD9DFA-9811-060F-3238-5DF5C50F33FD}"/>
              </a:ext>
            </a:extLst>
          </p:cNvPr>
          <p:cNvSpPr txBox="1"/>
          <p:nvPr/>
        </p:nvSpPr>
        <p:spPr>
          <a:xfrm>
            <a:off x="568714" y="1265382"/>
            <a:ext cx="4872530" cy="4720331"/>
          </a:xfrm>
          <a:prstGeom prst="rect">
            <a:avLst/>
          </a:prstGeom>
          <a:noFill/>
        </p:spPr>
        <p:txBody>
          <a:bodyPr wrap="square">
            <a:spAutoFit/>
          </a:bodyPr>
          <a:lstStyle/>
          <a:p>
            <a:pPr marL="285750" indent="-285750" algn="just">
              <a:lnSpc>
                <a:spcPct val="114000"/>
              </a:lnSpc>
              <a:spcAft>
                <a:spcPts val="600"/>
              </a:spcAft>
              <a:buFont typeface="Wingdings" pitchFamily="2" charset="2"/>
              <a:buChar char="v"/>
            </a:pPr>
            <a:r>
              <a:rPr lang="en-US" b="1" dirty="0">
                <a:solidFill>
                  <a:srgbClr val="006E57"/>
                </a:solidFill>
                <a:latin typeface="Gill Sans MT" panose="020B0502020104020203" pitchFamily="34" charset="77"/>
              </a:rPr>
              <a:t>Training plus dedicated helpdesk ticketing</a:t>
            </a:r>
            <a:endParaRPr lang="en-GB" sz="1800" dirty="0">
              <a:effectLst/>
              <a:latin typeface="Gill Sans MT" panose="020B0502020104020203" pitchFamily="34" charset="77"/>
              <a:ea typeface="Book Antiqua" panose="02040602050305030304" pitchFamily="18" charset="0"/>
              <a:cs typeface="Book Antiqua" panose="02040602050305030304" pitchFamily="18" charset="0"/>
            </a:endParaRPr>
          </a:p>
          <a:p>
            <a:pPr marL="285750" indent="-285750" algn="just">
              <a:lnSpc>
                <a:spcPct val="114000"/>
              </a:lnSpc>
              <a:spcAft>
                <a:spcPts val="600"/>
              </a:spcAft>
              <a:buFont typeface="Wingdings" pitchFamily="2" charset="2"/>
              <a:buChar char="§"/>
            </a:pPr>
            <a:r>
              <a:rPr lang="en-GB" sz="1800" dirty="0">
                <a:effectLst/>
                <a:latin typeface="Gill Sans MT" panose="020B0502020104020203" pitchFamily="34" charset="77"/>
                <a:ea typeface="Book Antiqua" panose="02040602050305030304" pitchFamily="18" charset="0"/>
                <a:cs typeface="Book Antiqua" panose="02040602050305030304" pitchFamily="18" charset="0"/>
              </a:rPr>
              <a:t>We are prepared and equipped to provide forward solutions and reduce the amount of effort and money wasted by enabling seamless operations and and a great user experience. </a:t>
            </a:r>
          </a:p>
          <a:p>
            <a:pPr marL="285750" indent="-285750" algn="just">
              <a:lnSpc>
                <a:spcPct val="114000"/>
              </a:lnSpc>
              <a:spcAft>
                <a:spcPts val="600"/>
              </a:spcAft>
              <a:buFont typeface="Wingdings" pitchFamily="2" charset="2"/>
              <a:buChar char="§"/>
            </a:pPr>
            <a:r>
              <a:rPr lang="en-GB" dirty="0">
                <a:latin typeface="Gill Sans MT" panose="020B0502020104020203" pitchFamily="34" charset="77"/>
              </a:rPr>
              <a:t>Our team of tech business development personnel, are available to provide training physically and using our virtual platforms like zoom and tele-conferencing. </a:t>
            </a:r>
          </a:p>
          <a:p>
            <a:pPr marL="285750" indent="-285750" algn="just">
              <a:lnSpc>
                <a:spcPct val="114000"/>
              </a:lnSpc>
              <a:spcAft>
                <a:spcPts val="600"/>
              </a:spcAft>
              <a:buFont typeface="Wingdings" pitchFamily="2" charset="2"/>
              <a:buChar char="§"/>
            </a:pPr>
            <a:r>
              <a:rPr lang="en-GB" dirty="0">
                <a:latin typeface="Gill Sans MT" panose="020B0502020104020203" pitchFamily="34" charset="77"/>
              </a:rPr>
              <a:t>In place is our customer experience function powered by competent staff who can be accessed physically and virtually via email, telephone, WhatsApp and the website. </a:t>
            </a:r>
            <a:endParaRPr lang="en-UG" dirty="0">
              <a:latin typeface="Gill Sans MT" panose="020B0502020104020203" pitchFamily="34" charset="77"/>
            </a:endParaRPr>
          </a:p>
        </p:txBody>
      </p:sp>
      <p:pic>
        <p:nvPicPr>
          <p:cNvPr id="14" name="Picture 13">
            <a:extLst>
              <a:ext uri="{FF2B5EF4-FFF2-40B4-BE49-F238E27FC236}">
                <a16:creationId xmlns:a16="http://schemas.microsoft.com/office/drawing/2014/main" id="{0F3E0E50-0ECE-0079-5F6C-0D674AA0F766}"/>
              </a:ext>
            </a:extLst>
          </p:cNvPr>
          <p:cNvPicPr>
            <a:picLocks noChangeAspect="1"/>
          </p:cNvPicPr>
          <p:nvPr/>
        </p:nvPicPr>
        <p:blipFill>
          <a:blip r:embed="rId3"/>
          <a:stretch>
            <a:fillRect/>
          </a:stretch>
        </p:blipFill>
        <p:spPr>
          <a:xfrm>
            <a:off x="5653668" y="1501422"/>
            <a:ext cx="5969618" cy="4799017"/>
          </a:xfrm>
          <a:prstGeom prst="rect">
            <a:avLst/>
          </a:prstGeom>
        </p:spPr>
      </p:pic>
      <p:sp>
        <p:nvSpPr>
          <p:cNvPr id="2" name="TextBox 1">
            <a:extLst>
              <a:ext uri="{FF2B5EF4-FFF2-40B4-BE49-F238E27FC236}">
                <a16:creationId xmlns:a16="http://schemas.microsoft.com/office/drawing/2014/main" id="{517F32CE-F179-8D45-70B5-CC42DEF2EBF3}"/>
              </a:ext>
            </a:extLst>
          </p:cNvPr>
          <p:cNvSpPr txBox="1"/>
          <p:nvPr/>
        </p:nvSpPr>
        <p:spPr>
          <a:xfrm>
            <a:off x="530577" y="318757"/>
            <a:ext cx="8918223" cy="707886"/>
          </a:xfrm>
          <a:prstGeom prst="rect">
            <a:avLst/>
          </a:prstGeom>
          <a:noFill/>
        </p:spPr>
        <p:txBody>
          <a:bodyPr wrap="square">
            <a:spAutoFit/>
          </a:bodyPr>
          <a:lstStyle/>
          <a:p>
            <a:r>
              <a:rPr lang="en-US" sz="4000" b="1" dirty="0">
                <a:solidFill>
                  <a:srgbClr val="006E57"/>
                </a:solidFill>
                <a:latin typeface="Gill Sans MT" panose="020B0502020104020203" pitchFamily="34" charset="77"/>
              </a:rPr>
              <a:t>Coop Profiler’s Value Proposition</a:t>
            </a:r>
            <a:endParaRPr lang="en-UG" sz="4000" dirty="0"/>
          </a:p>
        </p:txBody>
      </p:sp>
    </p:spTree>
    <p:extLst>
      <p:ext uri="{BB962C8B-B14F-4D97-AF65-F5344CB8AC3E}">
        <p14:creationId xmlns:p14="http://schemas.microsoft.com/office/powerpoint/2010/main" val="888537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7C04C-1EA1-55C0-AD8E-BF45FB9ECD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D8403-9610-62BC-3DAD-66543D6A36FA}"/>
              </a:ext>
            </a:extLst>
          </p:cNvPr>
          <p:cNvSpPr>
            <a:spLocks noGrp="1"/>
          </p:cNvSpPr>
          <p:nvPr>
            <p:ph type="title"/>
          </p:nvPr>
        </p:nvSpPr>
        <p:spPr>
          <a:xfrm>
            <a:off x="572655" y="356839"/>
            <a:ext cx="11074400" cy="930845"/>
          </a:xfrm>
        </p:spPr>
        <p:txBody>
          <a:bodyPr>
            <a:normAutofit/>
          </a:bodyPr>
          <a:lstStyle/>
          <a:p>
            <a:r>
              <a:rPr lang="en-US" b="1" dirty="0">
                <a:solidFill>
                  <a:srgbClr val="006E57"/>
                </a:solidFill>
                <a:latin typeface="Gill Sans MT" panose="020B0502020104020203" pitchFamily="34" charset="77"/>
              </a:rPr>
              <a:t>How does Coop Profiler Benefit Coops </a:t>
            </a:r>
            <a:endParaRPr lang="en-UG" dirty="0">
              <a:solidFill>
                <a:srgbClr val="006E57"/>
              </a:solidFill>
              <a:latin typeface="Gill Sans MT" panose="020B0502020104020203" pitchFamily="34" charset="77"/>
            </a:endParaRPr>
          </a:p>
        </p:txBody>
      </p:sp>
      <p:sp>
        <p:nvSpPr>
          <p:cNvPr id="3" name="Content Placeholder 2">
            <a:extLst>
              <a:ext uri="{FF2B5EF4-FFF2-40B4-BE49-F238E27FC236}">
                <a16:creationId xmlns:a16="http://schemas.microsoft.com/office/drawing/2014/main" id="{05281E04-A6E4-9837-09EA-B9B2A3605168}"/>
              </a:ext>
            </a:extLst>
          </p:cNvPr>
          <p:cNvSpPr>
            <a:spLocks noGrp="1"/>
          </p:cNvSpPr>
          <p:nvPr>
            <p:ph idx="1"/>
          </p:nvPr>
        </p:nvSpPr>
        <p:spPr>
          <a:xfrm>
            <a:off x="544945" y="1326132"/>
            <a:ext cx="5551055" cy="5286242"/>
          </a:xfrm>
        </p:spPr>
        <p:txBody>
          <a:bodyPr>
            <a:noAutofit/>
          </a:bodyPr>
          <a:lstStyle/>
          <a:p>
            <a:pPr algn="just"/>
            <a:r>
              <a:rPr lang="en-UG" sz="1800" b="1" dirty="0">
                <a:effectLst/>
                <a:latin typeface="Gill Sans MT" panose="020B0502020104020203" pitchFamily="34" charset="77"/>
                <a:ea typeface="Calibri" panose="020F0502020204030204" pitchFamily="34" charset="0"/>
                <a:cs typeface="Times New Roman" panose="02020603050405020304" pitchFamily="18" charset="0"/>
              </a:rPr>
              <a:t>Personalized Services:</a:t>
            </a:r>
            <a:r>
              <a:rPr lang="en-UG" sz="1800" dirty="0">
                <a:effectLst/>
                <a:latin typeface="Gill Sans MT" panose="020B0502020104020203" pitchFamily="34" charset="77"/>
                <a:ea typeface="Calibri" panose="020F0502020204030204" pitchFamily="34" charset="0"/>
                <a:cs typeface="Times New Roman" panose="02020603050405020304" pitchFamily="18" charset="0"/>
              </a:rPr>
              <a:t> </a:t>
            </a:r>
            <a:r>
              <a:rPr lang="en-UG" sz="1800" kern="100" dirty="0">
                <a:effectLst/>
                <a:latin typeface="Gill Sans MT" panose="020B0502020104020203" pitchFamily="34" charset="77"/>
                <a:ea typeface="Calibri" panose="020F0502020204030204" pitchFamily="34" charset="0"/>
                <a:cs typeface="Times New Roman" panose="02020603050405020304" pitchFamily="18" charset="0"/>
              </a:rPr>
              <a:t>By profiling members, the cooperative gains insights into individual needs and preferences, enabling the cooperative to offer tailored services and products that add value to members.</a:t>
            </a:r>
          </a:p>
          <a:p>
            <a:pPr algn="just"/>
            <a:r>
              <a:rPr lang="en-UG" sz="1800" b="1" dirty="0">
                <a:effectLst/>
                <a:latin typeface="Gill Sans MT" panose="020B0502020104020203" pitchFamily="34" charset="77"/>
                <a:ea typeface="Calibri" panose="020F0502020204030204" pitchFamily="34" charset="0"/>
                <a:cs typeface="Times New Roman" panose="02020603050405020304" pitchFamily="18" charset="0"/>
              </a:rPr>
              <a:t>Equitable Resource Distribution:</a:t>
            </a:r>
            <a:r>
              <a:rPr lang="en-UG" sz="1800" dirty="0">
                <a:effectLst/>
                <a:latin typeface="Gill Sans MT" panose="020B0502020104020203" pitchFamily="34" charset="77"/>
                <a:ea typeface="Calibri" panose="020F0502020204030204" pitchFamily="34" charset="0"/>
                <a:cs typeface="Times New Roman" panose="02020603050405020304" pitchFamily="18" charset="0"/>
              </a:rPr>
              <a:t> </a:t>
            </a:r>
            <a:r>
              <a:rPr lang="en-UG" sz="1800" kern="100" dirty="0">
                <a:effectLst/>
                <a:latin typeface="Gill Sans MT" panose="020B0502020104020203" pitchFamily="34" charset="77"/>
                <a:ea typeface="Calibri" panose="020F0502020204030204" pitchFamily="34" charset="0"/>
                <a:cs typeface="Times New Roman" panose="02020603050405020304" pitchFamily="18" charset="0"/>
              </a:rPr>
              <a:t>Understanding each member’s contributions and challenges helps cooperatives allocate resources more fairly and transparently.</a:t>
            </a:r>
            <a:endParaRPr lang="en-US" sz="1800" kern="100" dirty="0">
              <a:latin typeface="Gill Sans MT" panose="020B0502020104020203" pitchFamily="34" charset="77"/>
              <a:ea typeface="Calibri" panose="020F0502020204030204" pitchFamily="34" charset="0"/>
              <a:cs typeface="Times New Roman" panose="02020603050405020304" pitchFamily="18" charset="0"/>
            </a:endParaRPr>
          </a:p>
          <a:p>
            <a:pPr algn="just"/>
            <a:r>
              <a:rPr lang="en-UG" sz="1800" b="1" kern="100" dirty="0">
                <a:effectLst/>
                <a:latin typeface="Gill Sans MT" panose="020B0502020104020203" pitchFamily="34" charset="77"/>
                <a:ea typeface="Calibri" panose="020F0502020204030204" pitchFamily="34" charset="0"/>
                <a:cs typeface="Times New Roman" panose="02020603050405020304" pitchFamily="18" charset="0"/>
              </a:rPr>
              <a:t>Improved Access to Opportunities:</a:t>
            </a:r>
            <a:r>
              <a:rPr lang="en-UG" sz="1800" kern="100" dirty="0">
                <a:effectLst/>
                <a:latin typeface="Gill Sans MT" panose="020B0502020104020203" pitchFamily="34" charset="77"/>
                <a:ea typeface="Calibri" panose="020F0502020204030204" pitchFamily="34" charset="0"/>
                <a:cs typeface="Times New Roman" panose="02020603050405020304" pitchFamily="18" charset="0"/>
              </a:rPr>
              <a:t> Profiling uncovers opportunities like training, loans, and market access that members may otherwise miss out on.  </a:t>
            </a:r>
            <a:endParaRPr lang="en-US" sz="1800" dirty="0">
              <a:latin typeface="Gill Sans MT" panose="020B0502020104020203" pitchFamily="34" charset="77"/>
            </a:endParaRPr>
          </a:p>
          <a:p>
            <a:pPr algn="just"/>
            <a:r>
              <a:rPr lang="en-US" sz="1800" b="1" dirty="0">
                <a:latin typeface="Gill Sans MT" panose="020B0502020104020203" pitchFamily="34" charset="77"/>
              </a:rPr>
              <a:t>Develops a culture: </a:t>
            </a:r>
            <a:r>
              <a:rPr lang="en-US" sz="1800" dirty="0">
                <a:latin typeface="Gill Sans MT" panose="020B0502020104020203" pitchFamily="34" charset="77"/>
              </a:rPr>
              <a:t>of collecting data and analyzing high quality data and accurate data within the cooperative. </a:t>
            </a:r>
          </a:p>
          <a:p>
            <a:pPr algn="just"/>
            <a:r>
              <a:rPr lang="en-US" sz="1800" b="1" dirty="0">
                <a:latin typeface="Gill Sans MT" panose="020B0502020104020203" pitchFamily="34" charset="77"/>
              </a:rPr>
              <a:t>Promotes digitalization:</a:t>
            </a:r>
            <a:r>
              <a:rPr lang="en-US" sz="1800" dirty="0">
                <a:latin typeface="Gill Sans MT" panose="020B0502020104020203" pitchFamily="34" charset="77"/>
              </a:rPr>
              <a:t> that improves management efficiency and precise business reporting.</a:t>
            </a:r>
          </a:p>
          <a:p>
            <a:pPr algn="just"/>
            <a:r>
              <a:rPr lang="en-US" sz="1800" b="1" dirty="0">
                <a:latin typeface="Gill Sans MT" panose="020B0502020104020203" pitchFamily="34" charset="77"/>
              </a:rPr>
              <a:t>Fosters evidenced based advocacy</a:t>
            </a:r>
            <a:r>
              <a:rPr lang="en-US" sz="1800" dirty="0">
                <a:latin typeface="Gill Sans MT" panose="020B0502020104020203" pitchFamily="34" charset="77"/>
              </a:rPr>
              <a:t> to policy makers based on real time accurate data. </a:t>
            </a:r>
          </a:p>
          <a:p>
            <a:pPr algn="just">
              <a:lnSpc>
                <a:spcPct val="114000"/>
              </a:lnSpc>
              <a:buFont typeface="Wingdings" pitchFamily="2" charset="2"/>
              <a:buChar char="§"/>
            </a:pPr>
            <a:endParaRPr lang="en-UG" sz="1800" dirty="0">
              <a:latin typeface="Gill Sans MT" panose="020B0502020104020203" pitchFamily="34" charset="77"/>
            </a:endParaRPr>
          </a:p>
        </p:txBody>
      </p:sp>
      <p:sp>
        <p:nvSpPr>
          <p:cNvPr id="4" name="Content Placeholder 2">
            <a:extLst>
              <a:ext uri="{FF2B5EF4-FFF2-40B4-BE49-F238E27FC236}">
                <a16:creationId xmlns:a16="http://schemas.microsoft.com/office/drawing/2014/main" id="{7CAFD310-FE85-DE78-2B88-7C83CF72EFB5}"/>
              </a:ext>
            </a:extLst>
          </p:cNvPr>
          <p:cNvSpPr txBox="1">
            <a:spLocks/>
          </p:cNvSpPr>
          <p:nvPr/>
        </p:nvSpPr>
        <p:spPr>
          <a:xfrm>
            <a:off x="6242756" y="1214919"/>
            <a:ext cx="5404299" cy="528624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7000"/>
              </a:lnSpc>
              <a:buFont typeface="Symbol" panose="05050102010706020507" pitchFamily="18" charset="2"/>
              <a:buChar char=""/>
            </a:pPr>
            <a:r>
              <a:rPr lang="en-UG" sz="1800" b="1" kern="100" dirty="0">
                <a:latin typeface="Gill Sans MT" panose="020B0502020104020203" pitchFamily="34" charset="77"/>
                <a:ea typeface="Calibri" panose="020F0502020204030204" pitchFamily="34" charset="0"/>
                <a:cs typeface="Times New Roman" panose="02020603050405020304" pitchFamily="18" charset="0"/>
              </a:rPr>
              <a:t>Enhanced Support Services:</a:t>
            </a:r>
            <a:r>
              <a:rPr lang="en-UG" sz="1800" kern="100" dirty="0">
                <a:latin typeface="Gill Sans MT" panose="020B0502020104020203" pitchFamily="34" charset="77"/>
                <a:ea typeface="Calibri" panose="020F0502020204030204" pitchFamily="34" charset="0"/>
                <a:cs typeface="Times New Roman" panose="02020603050405020304" pitchFamily="18" charset="0"/>
              </a:rPr>
              <a:t> With accurate data, the cooperative can offer better financial support (loans, savings schemes) and other services that meet member needs.</a:t>
            </a:r>
          </a:p>
          <a:p>
            <a:pPr marL="342900" indent="-342900" algn="just">
              <a:lnSpc>
                <a:spcPct val="107000"/>
              </a:lnSpc>
              <a:buFont typeface="Symbol" panose="05050102010706020507" pitchFamily="18" charset="2"/>
              <a:buChar char=""/>
            </a:pPr>
            <a:r>
              <a:rPr lang="en-UG" sz="1800" b="1" dirty="0">
                <a:latin typeface="Gill Sans MT" panose="020B0502020104020203" pitchFamily="34" charset="77"/>
                <a:ea typeface="Calibri" panose="020F0502020204030204" pitchFamily="34" charset="0"/>
                <a:cs typeface="Times New Roman" panose="02020603050405020304" pitchFamily="18" charset="0"/>
              </a:rPr>
              <a:t>Data-Driven Growth:</a:t>
            </a:r>
            <a:r>
              <a:rPr lang="en-UG" sz="1800" dirty="0">
                <a:latin typeface="Gill Sans MT" panose="020B0502020104020203" pitchFamily="34" charset="77"/>
                <a:ea typeface="Calibri" panose="020F0502020204030204" pitchFamily="34" charset="0"/>
                <a:cs typeface="Times New Roman" panose="02020603050405020304" pitchFamily="18" charset="0"/>
              </a:rPr>
              <a:t> Members can track their individual performance and contributions over</a:t>
            </a:r>
            <a:r>
              <a:rPr lang="en-US" sz="1800" dirty="0">
                <a:latin typeface="Gill Sans MT" panose="020B0502020104020203" pitchFamily="34" charset="77"/>
                <a:ea typeface="Calibri" panose="020F0502020204030204" pitchFamily="34" charset="0"/>
                <a:cs typeface="Times New Roman" panose="02020603050405020304" pitchFamily="18" charset="0"/>
              </a:rPr>
              <a:t> </a:t>
            </a:r>
            <a:r>
              <a:rPr lang="en-UG" sz="1800" kern="100" dirty="0">
                <a:latin typeface="Gill Sans MT" panose="020B0502020104020203" pitchFamily="34" charset="77"/>
                <a:ea typeface="Calibri" panose="020F0502020204030204" pitchFamily="34" charset="0"/>
                <a:cs typeface="Times New Roman" panose="02020603050405020304" pitchFamily="18" charset="0"/>
              </a:rPr>
              <a:t>time, gaining access to personalized reports that help them grow. </a:t>
            </a:r>
            <a:endParaRPr lang="en-US" sz="1800" kern="100" dirty="0">
              <a:latin typeface="Gill Sans MT" panose="020B0502020104020203" pitchFamily="34" charset="77"/>
              <a:ea typeface="Calibri" panose="020F0502020204030204" pitchFamily="34" charset="0"/>
              <a:cs typeface="Times New Roman" panose="02020603050405020304" pitchFamily="18" charset="0"/>
            </a:endParaRPr>
          </a:p>
          <a:p>
            <a:pPr marL="342900" indent="-342900" algn="just">
              <a:lnSpc>
                <a:spcPct val="107000"/>
              </a:lnSpc>
              <a:buFont typeface="Symbol" panose="05050102010706020507" pitchFamily="18" charset="2"/>
              <a:buChar char=""/>
            </a:pPr>
            <a:r>
              <a:rPr lang="en-UG" sz="1800" b="1" kern="100" dirty="0">
                <a:latin typeface="Gill Sans MT" panose="020B0502020104020203" pitchFamily="34" charset="77"/>
                <a:ea typeface="Calibri" panose="020F0502020204030204" pitchFamily="34" charset="0"/>
                <a:cs typeface="Times New Roman" panose="02020603050405020304" pitchFamily="18" charset="0"/>
              </a:rPr>
              <a:t>Transparency and Accountability:</a:t>
            </a:r>
            <a:r>
              <a:rPr lang="en-UG" sz="1800" kern="100" dirty="0">
                <a:latin typeface="Gill Sans MT" panose="020B0502020104020203" pitchFamily="34" charset="77"/>
                <a:ea typeface="Calibri" panose="020F0502020204030204" pitchFamily="34" charset="0"/>
                <a:cs typeface="Times New Roman" panose="02020603050405020304" pitchFamily="18" charset="0"/>
              </a:rPr>
              <a:t> Members can see how their data is used for decision-making, ensuring trust and transparency within the cooperative.</a:t>
            </a:r>
          </a:p>
          <a:p>
            <a:pPr marL="342900" indent="-342900" algn="just">
              <a:lnSpc>
                <a:spcPct val="107000"/>
              </a:lnSpc>
              <a:spcAft>
                <a:spcPts val="800"/>
              </a:spcAft>
              <a:buFont typeface="Symbol" panose="05050102010706020507" pitchFamily="18" charset="2"/>
              <a:buChar char=""/>
            </a:pPr>
            <a:r>
              <a:rPr lang="en-UG" sz="1800" b="1" kern="100" dirty="0">
                <a:latin typeface="Gill Sans MT" panose="020B0502020104020203" pitchFamily="34" charset="77"/>
                <a:ea typeface="Calibri" panose="020F0502020204030204" pitchFamily="34" charset="0"/>
                <a:cs typeface="Times New Roman" panose="02020603050405020304" pitchFamily="18" charset="0"/>
              </a:rPr>
              <a:t>Collective Bargaining Power:</a:t>
            </a:r>
            <a:r>
              <a:rPr lang="en-UG" sz="1800" kern="100" dirty="0">
                <a:latin typeface="Gill Sans MT" panose="020B0502020104020203" pitchFamily="34" charset="77"/>
                <a:ea typeface="Calibri" panose="020F0502020204030204" pitchFamily="34" charset="0"/>
                <a:cs typeface="Times New Roman" panose="02020603050405020304" pitchFamily="18" charset="0"/>
              </a:rPr>
              <a:t> Aggregated member data can enhance the cooperative’s ability to negotiate better deals, services, or grants, on behalf of all members.</a:t>
            </a:r>
            <a:endParaRPr lang="en-US" sz="1800" dirty="0">
              <a:latin typeface="Gill Sans MT" panose="020B0502020104020203" pitchFamily="34" charset="77"/>
              <a:ea typeface="Calibri" panose="020F0502020204030204" pitchFamily="34" charset="0"/>
              <a:cs typeface="Times New Roman" panose="02020603050405020304" pitchFamily="18" charset="0"/>
            </a:endParaRPr>
          </a:p>
          <a:p>
            <a:endParaRPr lang="en-US" sz="1800" dirty="0">
              <a:latin typeface="Gill Sans MT" panose="020B0502020104020203" pitchFamily="34" charset="77"/>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7187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DD9B132-0A17-844B-92F7-3AB05C799CFB}"/>
              </a:ext>
            </a:extLst>
          </p:cNvPr>
          <p:cNvPicPr>
            <a:picLocks noChangeAspect="1"/>
          </p:cNvPicPr>
          <p:nvPr/>
        </p:nvPicPr>
        <p:blipFill>
          <a:blip r:embed="rId2"/>
          <a:stretch>
            <a:fillRect/>
          </a:stretch>
        </p:blipFill>
        <p:spPr>
          <a:xfrm>
            <a:off x="408878" y="323388"/>
            <a:ext cx="11374243" cy="4783871"/>
          </a:xfrm>
          <a:prstGeom prst="rect">
            <a:avLst/>
          </a:prstGeom>
        </p:spPr>
      </p:pic>
      <p:sp>
        <p:nvSpPr>
          <p:cNvPr id="3" name="Title 1">
            <a:extLst>
              <a:ext uri="{FF2B5EF4-FFF2-40B4-BE49-F238E27FC236}">
                <a16:creationId xmlns:a16="http://schemas.microsoft.com/office/drawing/2014/main" id="{4D80F0CA-E47C-DD74-7ABF-8DAB9D87BD6C}"/>
              </a:ext>
            </a:extLst>
          </p:cNvPr>
          <p:cNvSpPr>
            <a:spLocks noGrp="1"/>
          </p:cNvSpPr>
          <p:nvPr>
            <p:ph type="title"/>
          </p:nvPr>
        </p:nvSpPr>
        <p:spPr>
          <a:xfrm>
            <a:off x="3389971" y="5311084"/>
            <a:ext cx="5319131" cy="707821"/>
          </a:xfrm>
        </p:spPr>
        <p:txBody>
          <a:bodyPr>
            <a:normAutofit fontScale="90000"/>
          </a:bodyPr>
          <a:lstStyle/>
          <a:p>
            <a:r>
              <a:rPr lang="en-US" b="1" i="1" dirty="0">
                <a:solidFill>
                  <a:srgbClr val="3A7165"/>
                </a:solidFill>
                <a:latin typeface="Book Antiqua" panose="02040602050305030304" pitchFamily="18" charset="0"/>
              </a:rPr>
              <a:t>Henry David Thoreau</a:t>
            </a:r>
            <a:endParaRPr lang="en-UG" i="1" dirty="0">
              <a:solidFill>
                <a:srgbClr val="3A7165"/>
              </a:solidFill>
              <a:latin typeface="Book Antiqua" panose="02040602050305030304" pitchFamily="18" charset="0"/>
            </a:endParaRPr>
          </a:p>
        </p:txBody>
      </p:sp>
    </p:spTree>
    <p:extLst>
      <p:ext uri="{BB962C8B-B14F-4D97-AF65-F5344CB8AC3E}">
        <p14:creationId xmlns:p14="http://schemas.microsoft.com/office/powerpoint/2010/main" val="3486261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g30cf90ab15f_0_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pic>
        <p:nvPicPr>
          <p:cNvPr id="3" name="Picture 2">
            <a:extLst>
              <a:ext uri="{FF2B5EF4-FFF2-40B4-BE49-F238E27FC236}">
                <a16:creationId xmlns:a16="http://schemas.microsoft.com/office/drawing/2014/main" id="{29068E3B-2B24-0003-82B1-65BCC9B56047}"/>
              </a:ext>
            </a:extLst>
          </p:cNvPr>
          <p:cNvPicPr>
            <a:picLocks noChangeAspect="1"/>
          </p:cNvPicPr>
          <p:nvPr/>
        </p:nvPicPr>
        <p:blipFill>
          <a:blip r:embed="rId3"/>
          <a:stretch>
            <a:fillRect/>
          </a:stretch>
        </p:blipFill>
        <p:spPr>
          <a:xfrm>
            <a:off x="0" y="136550"/>
            <a:ext cx="12192000" cy="67214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9123</TotalTime>
  <Words>2445</Words>
  <Application>Microsoft Macintosh PowerPoint</Application>
  <PresentationFormat>Widescreen</PresentationFormat>
  <Paragraphs>292</Paragraphs>
  <Slides>22</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Arial</vt:lpstr>
      <vt:lpstr>Book Antiqua</vt:lpstr>
      <vt:lpstr>Calibri</vt:lpstr>
      <vt:lpstr>Calibri Light</vt:lpstr>
      <vt:lpstr>Courier New</vt:lpstr>
      <vt:lpstr>Figtree</vt:lpstr>
      <vt:lpstr>Gill Sans</vt:lpstr>
      <vt:lpstr>Gill Sans MT</vt:lpstr>
      <vt:lpstr>Symbol</vt:lpstr>
      <vt:lpstr>Wingdings</vt:lpstr>
      <vt:lpstr>Work Sans</vt:lpstr>
      <vt:lpstr>Office Theme</vt:lpstr>
      <vt:lpstr>Coop Profiler  Value Proposition</vt:lpstr>
      <vt:lpstr>PowerPoint Presentation</vt:lpstr>
      <vt:lpstr>The problem </vt:lpstr>
      <vt:lpstr>Our Solution</vt:lpstr>
      <vt:lpstr>Our Solution</vt:lpstr>
      <vt:lpstr>Resilience Profiling &amp; Measurement</vt:lpstr>
      <vt:lpstr> Coop Profiler’s Value Proposition </vt:lpstr>
      <vt:lpstr>Sample analysis of individual members’  reasons for joining coop, aspirations in 5 years, and insurance uptake</vt:lpstr>
      <vt:lpstr>Sample analysis of individual cooperative members’ Land Ownership, Incomes, Key Crops, Family Size</vt:lpstr>
      <vt:lpstr>Sample analysis of individual cooperative members’ location, age distribution, gender, animal breeds</vt:lpstr>
      <vt:lpstr>PowerPoint Presentation</vt:lpstr>
      <vt:lpstr>PowerPoint Presentation</vt:lpstr>
      <vt:lpstr>Collaboration</vt:lpstr>
      <vt:lpstr>Coop Profiler’s Value Proposition</vt:lpstr>
      <vt:lpstr>PowerPoint Presentation</vt:lpstr>
      <vt:lpstr>Coop Profiler’s Value Proposition</vt:lpstr>
      <vt:lpstr>PowerPoint Presentation</vt:lpstr>
      <vt:lpstr>PowerPoint Presentation</vt:lpstr>
      <vt:lpstr>PowerPoint Presentation</vt:lpstr>
      <vt:lpstr>How does Coop Profiler Benefit Coops </vt:lpstr>
      <vt:lpstr>Henry David Thoreau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Levi Leku</dc:creator>
  <cp:lastModifiedBy>Microsoft Office User</cp:lastModifiedBy>
  <cp:revision>37</cp:revision>
  <dcterms:created xsi:type="dcterms:W3CDTF">2023-04-05T07:35:55Z</dcterms:created>
  <dcterms:modified xsi:type="dcterms:W3CDTF">2025-04-07T16:49:13Z</dcterms:modified>
</cp:coreProperties>
</file>